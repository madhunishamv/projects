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Alice" panose="020B0604020202020204" charset="0"/>
      <p:regular r:id="rId28"/>
    </p:embeddedFont>
    <p:embeddedFont>
      <p:font typeface="Alice Bold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Georgia Pro" panose="02040502050405020303" pitchFamily="18" charset="0"/>
      <p:regular r:id="rId31"/>
    </p:embeddedFont>
    <p:embeddedFont>
      <p:font typeface="Georgia Pro Bold" panose="02040802050405020203" charset="0"/>
      <p:regular r:id="rId32"/>
    </p:embeddedFont>
    <p:embeddedFont>
      <p:font typeface="HK Grotesk" panose="020B0604020202020204" charset="0"/>
      <p:regular r:id="rId33"/>
    </p:embeddedFont>
    <p:embeddedFont>
      <p:font typeface="HK Grotesk Bold" panose="020B0604020202020204" charset="0"/>
      <p:regular r:id="rId34"/>
    </p:embeddedFont>
    <p:embeddedFont>
      <p:font typeface="HK Grotesk Medium" panose="020B0604020202020204" charset="0"/>
      <p:regular r:id="rId35"/>
    </p:embeddedFont>
    <p:embeddedFont>
      <p:font typeface="Open Sans" panose="020B0606030504020204" pitchFamily="34" charset="0"/>
      <p:regular r:id="rId36"/>
    </p:embeddedFont>
    <p:embeddedFont>
      <p:font typeface="Open Sans Bold" panose="020B0806030504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?term=Afshari%20Safavi%20E%5BAuthor%5D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Olusogo-Julius-Adetunji-2?_tp=eyJjb250ZXh0Ijp7ImZpcnN0UGFnZSI6InB1YmxpY2F0aW9uIiwicGFnZSI6InB1YmxpY2F0aW9uIn19" TargetMode="External"/><Relationship Id="rId2" Type="http://schemas.openxmlformats.org/officeDocument/2006/relationships/hyperlink" Target="https://www.researchgate.net/scientific-contributions/Olatayo-Moses-Olaniyan-2263926718?_tp=eyJjb250ZXh0Ijp7ImZpcnN0UGFnZSI6InB1YmxpY2F0aW9uIiwicGFnZSI6InB1YmxpY2F0aW9uIn19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esearchgate.net/scientific-contributions/Adedire-Marquis-Fasanya-226391619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scientific-contributions/S-Tharun-Kumar-Reddy-2241236349?_tp=eyJjb250ZXh0Ijp7ImZpcnN0UGFnZSI6InNpZ251cCIsInBhZ2UiOiJwdWJsaWNhdGlvbiJ9fQ" TargetMode="External"/><Relationship Id="rId2" Type="http://schemas.openxmlformats.org/officeDocument/2006/relationships/hyperlink" Target="https://www.researchgate.net/scientific-contributions/Toyal-Mazi-2241246265?_tp=eyJjb250ZXh0Ijp7ImZpcnN0UGFnZSI6InNpZ251cCIsInBhZ2UiOiJwdWJsaWNhdGlvbiJ9fQ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researchgate.net/scientific-contributions/N-Chandu-2241236481" TargetMode="External"/><Relationship Id="rId4" Type="http://schemas.openxmlformats.org/officeDocument/2006/relationships/hyperlink" Target="https://www.researchgate.net/scientific-contributions/B-Rakesh-2241256138?_tp=eyJjb250ZXh0Ijp7ImZpcnN0UGFnZSI6InNpZ251cCIsInBhZ2UiOiJwdWJsaWNhdGlvbiJ9fQ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scientific-contributions/B-Rakesh-2241256138?_tp=eyJjb250ZXh0Ijp7ImZpcnN0UGFnZSI6InNpZ251cCIsInBhZ2UiOiJwdWJsaWNhdGlvbiJ9fQ" TargetMode="External"/><Relationship Id="rId3" Type="http://schemas.openxmlformats.org/officeDocument/2006/relationships/hyperlink" Target="https://www.researchgate.net/scientific-contributions/Olatayo-Moses-Olaniyan-2263926718?_tp=eyJjb250ZXh0Ijp7ImZpcnN0UGFnZSI6InB1YmxpY2F0aW9uIiwicGFnZSI6InB1YmxpY2F0aW9uIn19" TargetMode="External"/><Relationship Id="rId7" Type="http://schemas.openxmlformats.org/officeDocument/2006/relationships/hyperlink" Target="https://www.researchgate.net/scientific-contributions/S-Tharun-Kumar-Reddy-2241236349?_tp=eyJjb250ZXh0Ijp7ImZpcnN0UGFnZSI6InNpZ251cCIsInBhZ2UiOiJwdWJsaWNhdGlvbiJ9fQ" TargetMode="External"/><Relationship Id="rId2" Type="http://schemas.openxmlformats.org/officeDocument/2006/relationships/hyperlink" Target="https://pubmed.ncbi.nlm.nih.gov/?term=Afshari%20Safavi%20E%5BAuthor%5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scientific-contributions/Toyal-Mazi-2241246265?_tp=eyJjb250ZXh0Ijp7ImZpcnN0UGFnZSI6InNpZ251cCIsInBhZ2UiOiJwdWJsaWNhdGlvbiJ9fQ" TargetMode="External"/><Relationship Id="rId5" Type="http://schemas.openxmlformats.org/officeDocument/2006/relationships/hyperlink" Target="https://www.researchgate.net/scientific-contributions/Adedire-Marquis-Fasanya-2263916191" TargetMode="External"/><Relationship Id="rId4" Type="http://schemas.openxmlformats.org/officeDocument/2006/relationships/hyperlink" Target="https://www.researchgate.net/profile/Olusogo-Julius-Adetunji-2?_tp=eyJjb250ZXh0Ijp7ImZpcnN0UGFnZSI6InB1YmxpY2F0aW9uIiwicGFnZSI6InB1YmxpY2F0aW9uIn19" TargetMode="External"/><Relationship Id="rId9" Type="http://schemas.openxmlformats.org/officeDocument/2006/relationships/hyperlink" Target="https://www.researchgate.net/scientific-contributions/N-Chandu-2241236481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52605" y="1792693"/>
            <a:ext cx="7706695" cy="6622941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56698" y="2387829"/>
            <a:ext cx="6534491" cy="5511342"/>
            <a:chOff x="0" y="0"/>
            <a:chExt cx="1721018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1018" cy="1451547"/>
            </a:xfrm>
            <a:custGeom>
              <a:avLst/>
              <a:gdLst/>
              <a:ahLst/>
              <a:cxnLst/>
              <a:rect l="l" t="t" r="r" b="b"/>
              <a:pathLst>
                <a:path w="1721018" h="1451547">
                  <a:moveTo>
                    <a:pt x="0" y="0"/>
                  </a:moveTo>
                  <a:lnTo>
                    <a:pt x="1721018" y="0"/>
                  </a:lnTo>
                  <a:lnTo>
                    <a:pt x="1721018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1018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38975" y="9447772"/>
            <a:ext cx="4393457" cy="839228"/>
            <a:chOff x="0" y="0"/>
            <a:chExt cx="1157124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78202" y="9258300"/>
            <a:ext cx="2664422" cy="1218172"/>
            <a:chOff x="0" y="0"/>
            <a:chExt cx="483446" cy="2210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88612" y="9258300"/>
            <a:ext cx="2664422" cy="1218172"/>
            <a:chOff x="0" y="0"/>
            <a:chExt cx="483446" cy="2210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136748" y="2202900"/>
            <a:ext cx="6709253" cy="5845101"/>
            <a:chOff x="0" y="0"/>
            <a:chExt cx="6350000" cy="5532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642487" y="2676492"/>
            <a:ext cx="5697775" cy="4934017"/>
            <a:chOff x="0" y="0"/>
            <a:chExt cx="4282440" cy="3708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5957" r="-6444"/>
              </a:stretch>
            </a:blipFill>
          </p:spPr>
        </p:sp>
      </p:grpSp>
      <p:sp>
        <p:nvSpPr>
          <p:cNvPr id="30" name="AutoShape 30"/>
          <p:cNvSpPr/>
          <p:nvPr/>
        </p:nvSpPr>
        <p:spPr>
          <a:xfrm flipV="1">
            <a:off x="15783675" y="5083877"/>
            <a:ext cx="1570219" cy="2922551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 flipV="1">
            <a:off x="15743954" y="2202900"/>
            <a:ext cx="1647698" cy="287958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TextBox 32"/>
          <p:cNvSpPr txBox="1"/>
          <p:nvPr/>
        </p:nvSpPr>
        <p:spPr>
          <a:xfrm>
            <a:off x="357498" y="2676492"/>
            <a:ext cx="9986790" cy="260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88"/>
              </a:lnSpc>
            </a:pPr>
            <a:r>
              <a:rPr lang="en-US" sz="6688" dirty="0">
                <a:solidFill>
                  <a:srgbClr val="F4F6FC"/>
                </a:solidFill>
                <a:latin typeface="Alice"/>
              </a:rPr>
              <a:t>CATTLE SKIN DISEASE CLASSIFICATION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950" y="1832029"/>
            <a:ext cx="7706695" cy="6622941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37928" y="2387829"/>
            <a:ext cx="6534491" cy="5511342"/>
            <a:chOff x="0" y="0"/>
            <a:chExt cx="1721018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1018" cy="1451547"/>
            </a:xfrm>
            <a:custGeom>
              <a:avLst/>
              <a:gdLst/>
              <a:ahLst/>
              <a:cxnLst/>
              <a:rect l="l" t="t" r="r" b="b"/>
              <a:pathLst>
                <a:path w="1721018" h="1451547">
                  <a:moveTo>
                    <a:pt x="0" y="0"/>
                  </a:moveTo>
                  <a:lnTo>
                    <a:pt x="1721018" y="0"/>
                  </a:lnTo>
                  <a:lnTo>
                    <a:pt x="1721018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1018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38153" y="0"/>
            <a:ext cx="4393457" cy="839228"/>
            <a:chOff x="0" y="0"/>
            <a:chExt cx="1157124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27014" y="9447772"/>
            <a:ext cx="4393457" cy="839228"/>
            <a:chOff x="0" y="0"/>
            <a:chExt cx="1157124" cy="221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79025" y="-189472"/>
            <a:ext cx="2664422" cy="1218172"/>
            <a:chOff x="0" y="0"/>
            <a:chExt cx="483446" cy="2210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4191" y="9258300"/>
            <a:ext cx="2664422" cy="1218172"/>
            <a:chOff x="0" y="0"/>
            <a:chExt cx="483446" cy="2210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89434" y="-189472"/>
            <a:ext cx="2664422" cy="1218172"/>
            <a:chOff x="0" y="0"/>
            <a:chExt cx="483446" cy="2210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854601" y="9258300"/>
            <a:ext cx="2664422" cy="1218172"/>
            <a:chOff x="0" y="0"/>
            <a:chExt cx="483446" cy="2210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22671" y="2220949"/>
            <a:ext cx="6709253" cy="5845101"/>
            <a:chOff x="0" y="0"/>
            <a:chExt cx="6350000" cy="5532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28" name="AutoShape 28"/>
          <p:cNvSpPr/>
          <p:nvPr/>
        </p:nvSpPr>
        <p:spPr>
          <a:xfrm rot="-7193308">
            <a:off x="-497852" y="6516002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-3598859">
            <a:off x="-501078" y="3680979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30"/>
          <p:cNvSpPr/>
          <p:nvPr/>
        </p:nvSpPr>
        <p:spPr>
          <a:xfrm>
            <a:off x="10066041" y="2052774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2"/>
                </a:lnTo>
                <a:lnTo>
                  <a:pt x="0" y="43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066041" y="2931943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2"/>
                </a:lnTo>
                <a:lnTo>
                  <a:pt x="0" y="43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066041" y="3931213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1"/>
                </a:lnTo>
                <a:lnTo>
                  <a:pt x="0" y="430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066041" y="4868473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2"/>
                </a:lnTo>
                <a:lnTo>
                  <a:pt x="0" y="43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066041" y="5804207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1"/>
                </a:lnTo>
                <a:lnTo>
                  <a:pt x="0" y="430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066041" y="6741467"/>
            <a:ext cx="422417" cy="430552"/>
          </a:xfrm>
          <a:custGeom>
            <a:avLst/>
            <a:gdLst/>
            <a:ahLst/>
            <a:cxnLst/>
            <a:rect l="l" t="t" r="r" b="b"/>
            <a:pathLst>
              <a:path w="422417" h="430552">
                <a:moveTo>
                  <a:pt x="0" y="0"/>
                </a:moveTo>
                <a:lnTo>
                  <a:pt x="422417" y="0"/>
                </a:lnTo>
                <a:lnTo>
                  <a:pt x="422417" y="430552"/>
                </a:lnTo>
                <a:lnTo>
                  <a:pt x="0" y="43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903015" y="4203700"/>
            <a:ext cx="6148566" cy="2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50A30"/>
                </a:solidFill>
                <a:latin typeface="Alice Bold"/>
              </a:rPr>
              <a:t>Table Of Content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693046" y="1908957"/>
            <a:ext cx="4798523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INTRODUCTION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93046" y="2846218"/>
            <a:ext cx="3230696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OBJECTIVE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93046" y="3787396"/>
            <a:ext cx="6566254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LITERATURE SURVEY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93046" y="4724656"/>
            <a:ext cx="5236125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BLOCK DIAGRAM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93046" y="5660390"/>
            <a:ext cx="3230696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CODE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93046" y="6597650"/>
            <a:ext cx="3230696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 spc="287">
                <a:solidFill>
                  <a:srgbClr val="F4F6FC"/>
                </a:solidFill>
                <a:latin typeface="Georgia Pro Bold"/>
              </a:rPr>
              <a:t>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565517" y="1650170"/>
            <a:ext cx="8838686" cy="7595746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0849608" y="92937"/>
            <a:ext cx="6196442" cy="5511342"/>
            <a:chOff x="0" y="0"/>
            <a:chExt cx="1631985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1985" cy="1451547"/>
            </a:xfrm>
            <a:custGeom>
              <a:avLst/>
              <a:gdLst/>
              <a:ahLst/>
              <a:cxnLst/>
              <a:rect l="l" t="t" r="r" b="b"/>
              <a:pathLst>
                <a:path w="1631985" h="1451547">
                  <a:moveTo>
                    <a:pt x="0" y="0"/>
                  </a:moveTo>
                  <a:lnTo>
                    <a:pt x="1631985" y="0"/>
                  </a:lnTo>
                  <a:lnTo>
                    <a:pt x="1631985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31985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36508" y="9447772"/>
            <a:ext cx="4393457" cy="839228"/>
            <a:chOff x="0" y="0"/>
            <a:chExt cx="1157124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80669" y="9258300"/>
            <a:ext cx="2664422" cy="1218172"/>
            <a:chOff x="0" y="0"/>
            <a:chExt cx="483446" cy="221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91079" y="9258300"/>
            <a:ext cx="2664422" cy="1218172"/>
            <a:chOff x="0" y="0"/>
            <a:chExt cx="483446" cy="2210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119421" y="2080472"/>
            <a:ext cx="7730879" cy="6735142"/>
            <a:chOff x="0" y="0"/>
            <a:chExt cx="6350000" cy="5532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19" name="AutoShape 19"/>
          <p:cNvSpPr/>
          <p:nvPr/>
        </p:nvSpPr>
        <p:spPr>
          <a:xfrm rot="1788959">
            <a:off x="13703365" y="1809816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9045464">
            <a:off x="10877874" y="1795575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11028600" y="2677477"/>
            <a:ext cx="5838459" cy="5254556"/>
            <a:chOff x="0" y="0"/>
            <a:chExt cx="5499100" cy="49491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9100" cy="4949136"/>
            </a:xfrm>
            <a:custGeom>
              <a:avLst/>
              <a:gdLst/>
              <a:ahLst/>
              <a:cxnLst/>
              <a:rect l="l" t="t" r="r" b="b"/>
              <a:pathLst>
                <a:path w="5499100" h="4949136">
                  <a:moveTo>
                    <a:pt x="2749550" y="4949136"/>
                  </a:moveTo>
                  <a:lnTo>
                    <a:pt x="0" y="3711852"/>
                  </a:lnTo>
                  <a:lnTo>
                    <a:pt x="0" y="1237284"/>
                  </a:lnTo>
                  <a:lnTo>
                    <a:pt x="2749550" y="0"/>
                  </a:lnTo>
                  <a:lnTo>
                    <a:pt x="5499100" y="1237284"/>
                  </a:lnTo>
                  <a:lnTo>
                    <a:pt x="5499100" y="3711852"/>
                  </a:lnTo>
                  <a:lnTo>
                    <a:pt x="2749550" y="4949136"/>
                  </a:lnTo>
                  <a:close/>
                </a:path>
              </a:pathLst>
            </a:custGeom>
            <a:blipFill>
              <a:blip r:embed="rId2"/>
              <a:stretch>
                <a:fillRect l="-20620" r="-22949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707229" y="1448093"/>
            <a:ext cx="6386996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>
                <a:solidFill>
                  <a:srgbClr val="F4F6FC"/>
                </a:solidFill>
                <a:latin typeface="Alice Bold"/>
              </a:rPr>
              <a:t>Introduction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9703" y="3400892"/>
            <a:ext cx="8504297" cy="339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3000">
                <a:solidFill>
                  <a:srgbClr val="F4F6FC"/>
                </a:solidFill>
                <a:latin typeface="Georgia Pro"/>
              </a:rPr>
              <a:t>Lumpy skin disease is a viral infection affecting cows, characterized by skin nodules, fever, and other symptoms. With no specific antiviral treatment available, early detection is crucial for effective management and prevention of spread.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0094482" y="1570577"/>
            <a:ext cx="7706695" cy="6622941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0849608" y="5224598"/>
            <a:ext cx="6196442" cy="5511342"/>
            <a:chOff x="0" y="0"/>
            <a:chExt cx="1631985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1985" cy="1451547"/>
            </a:xfrm>
            <a:custGeom>
              <a:avLst/>
              <a:gdLst/>
              <a:ahLst/>
              <a:cxnLst/>
              <a:rect l="l" t="t" r="r" b="b"/>
              <a:pathLst>
                <a:path w="1631985" h="1451547">
                  <a:moveTo>
                    <a:pt x="0" y="0"/>
                  </a:moveTo>
                  <a:lnTo>
                    <a:pt x="1631985" y="0"/>
                  </a:lnTo>
                  <a:lnTo>
                    <a:pt x="1631985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31985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36508" y="9447772"/>
            <a:ext cx="4393457" cy="839228"/>
            <a:chOff x="0" y="0"/>
            <a:chExt cx="1157124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80669" y="9258300"/>
            <a:ext cx="2664422" cy="1218172"/>
            <a:chOff x="0" y="0"/>
            <a:chExt cx="483446" cy="221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91079" y="9258300"/>
            <a:ext cx="2664422" cy="1218172"/>
            <a:chOff x="0" y="0"/>
            <a:chExt cx="483446" cy="2210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593203" y="1959497"/>
            <a:ext cx="6709253" cy="5845101"/>
            <a:chOff x="0" y="0"/>
            <a:chExt cx="6350000" cy="5532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19" name="AutoShape 19"/>
          <p:cNvSpPr/>
          <p:nvPr/>
        </p:nvSpPr>
        <p:spPr>
          <a:xfrm rot="-1715946">
            <a:off x="13698272" y="8383758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-8950593">
            <a:off x="10861563" y="8328653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11369337" y="1904574"/>
            <a:ext cx="5156985" cy="5954948"/>
            <a:chOff x="0" y="0"/>
            <a:chExt cx="54991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9100" cy="6350000"/>
            </a:xfrm>
            <a:custGeom>
              <a:avLst/>
              <a:gdLst/>
              <a:ahLst/>
              <a:cxnLst/>
              <a:rect l="l" t="t" r="r" b="b"/>
              <a:pathLst>
                <a:path w="5499100" h="63500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blipFill>
              <a:blip r:embed="rId2"/>
              <a:stretch>
                <a:fillRect l="-26453" r="-46756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899649" y="1813679"/>
            <a:ext cx="5826463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>
                <a:solidFill>
                  <a:srgbClr val="F4F6FC"/>
                </a:solidFill>
                <a:latin typeface="Alice Bold"/>
              </a:rPr>
              <a:t>Objective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9649" y="3679321"/>
            <a:ext cx="7001913" cy="38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3000">
                <a:solidFill>
                  <a:srgbClr val="F4F6FC"/>
                </a:solidFill>
                <a:latin typeface="Georgia Pro"/>
              </a:rPr>
              <a:t>The Objective is to train and evaluate deep learning models on relevant data related to infections causing Lumpy Skin Diseases.</a:t>
            </a:r>
          </a:p>
          <a:p>
            <a:pPr>
              <a:lnSpc>
                <a:spcPts val="4369"/>
              </a:lnSpc>
            </a:pPr>
            <a:endParaRPr lang="en-US" sz="3000">
              <a:solidFill>
                <a:srgbClr val="F4F6FC"/>
              </a:solidFill>
              <a:latin typeface="Georgia Pro"/>
            </a:endParaRPr>
          </a:p>
          <a:p>
            <a:pPr>
              <a:lnSpc>
                <a:spcPts val="4369"/>
              </a:lnSpc>
            </a:pPr>
            <a:endParaRPr lang="en-US" sz="3000">
              <a:solidFill>
                <a:srgbClr val="F4F6FC"/>
              </a:solidFill>
              <a:latin typeface="Georgia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20964" y="2427525"/>
          <a:ext cx="17646071" cy="6972703"/>
        </p:xfrm>
        <a:graphic>
          <a:graphicData uri="http://schemas.openxmlformats.org/drawingml/2006/table">
            <a:tbl>
              <a:tblPr/>
              <a:tblGrid>
                <a:gridCol w="125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0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7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709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6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Assessing machine learning techniques in forecasting lumpy skin disease occurrence based on meteorological and geospatial features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Author: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2" tooltip="https://pubmed.ncbi.nlm.nih.gov/?term=Afshari%20Safavi%20E%5BAuthor%5D"/>
                        </a:rPr>
                        <a:t>Ehsanallah Afshari Safavi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on 14 January 2022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The key objective of this research was to develop predictive models using ML algorithm based on meteorological and geospatial features to predict the incidence of LSDV infection in some countries.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Incorporation of Features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Relevance to Prior Outbreaks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Use of Machine Learning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Limited Temporal Scope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Potential Data Quality Issues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Scope of Countries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53943" y="2376567"/>
          <a:ext cx="17646071" cy="6972703"/>
        </p:xfrm>
        <a:graphic>
          <a:graphicData uri="http://schemas.openxmlformats.org/drawingml/2006/table">
            <a:tbl>
              <a:tblPr/>
              <a:tblGrid>
                <a:gridCol w="1439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0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7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709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6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A Deep Learning Approach to Detect Lumpy Skin Disease in Cows 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Author: Gaurav Rai, Naveen, Aquib Hussain, Amit Kumar and Rahul Nijhawan 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on 28 February 2020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An architecture using machine learning techniques had been developed to detect the Lumpy skin disease.  The work is tested on the dataset and is measured with other advanced methodology.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High Accuracy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Early Detection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Potential Application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Dataset Limitation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Treatment Aspect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20964" y="2285597"/>
          <a:ext cx="17646071" cy="6972703"/>
        </p:xfrm>
        <a:graphic>
          <a:graphicData uri="http://schemas.openxmlformats.org/drawingml/2006/table">
            <a:tbl>
              <a:tblPr/>
              <a:tblGrid>
                <a:gridCol w="1439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0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7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709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6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Detecting High-risk Area for Lumpy Skin Disease in Cattle Using Deep Learning Feature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Author: Musa Genemo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on 15 February 2023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Deep learning-based segmentation and classification are proposed for disease segmentation and classification.  The developed framework is initially trained on a collected Cattle’s lumpy Skin Disease (CLSD) dataset.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Advanced Technique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Training on a Collected Dataset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Utilization of Deep Features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Computational Complexity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53943" y="2285597"/>
          <a:ext cx="17879697" cy="7343281"/>
        </p:xfrm>
        <a:graphic>
          <a:graphicData uri="http://schemas.openxmlformats.org/drawingml/2006/table">
            <a:tbl>
              <a:tblPr/>
              <a:tblGrid>
                <a:gridCol w="136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1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7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676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651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Development of a Model for the Prediction of Lumpy Skin Diseases using Machine Learning Techniques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Authors: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2" tooltip="https://www.researchgate.net/scientific-contributions/Olatayo-Moses-Olaniyan-2263926718?_tp=eyJjb250ZXh0Ijp7ImZpcnN0UGFnZSI6InB1YmxpY2F0aW9uIiwicGFnZSI6InB1YmxpY2F0aW9uIn19"/>
                        </a:rPr>
                        <a:t>Olatayo Moses Olaniyan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,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3" tooltip="https://www.researchgate.net/profile/Olusogo-Julius-Adetunji-2?_tp=eyJjb250ZXh0Ijp7ImZpcnN0UGFnZSI6InB1YmxpY2F0aW9uIiwicGFnZSI6InB1YmxpY2F0aW9uIn19"/>
                        </a:rPr>
                        <a:t>Olusogo Julius Adetunji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,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4" tooltip="https://www.researchgate.net/scientific-contributions/Adedire-Marquis-Fasanya-2263916191"/>
                        </a:rPr>
                        <a:t>Adedire Marquis Fasanya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  <a:hlinkClick r:id="rId4" tooltip="https://www.researchgate.net/scientific-contributions/Adedire-Marquis-Fasanya-2263916191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in October 2023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An enhanced model was developed to improve the predictive performance of existing model and also, compared the performance of stacked ensemble of single classifiers with respect to optimized artificial neural network.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Application of Feature Selection Technique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Improved Predictive Performance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 Bold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Wide Geographical Coverage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Limited Data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Inadequate Description of Model Architecture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88166" y="2285597"/>
          <a:ext cx="17911668" cy="6972703"/>
        </p:xfrm>
        <a:graphic>
          <a:graphicData uri="http://schemas.openxmlformats.org/drawingml/2006/table">
            <a:tbl>
              <a:tblPr/>
              <a:tblGrid>
                <a:gridCol w="14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1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7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709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6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A Survey on Deep Learning Method to Identify Lumpy Skin Disease in Cows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Authors: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2" tooltip="https://www.researchgate.net/scientific-contributions/Toyal-Mazi-2241246265?_tp=eyJjb250ZXh0Ijp7ImZpcnN0UGFnZSI6InNpZ251cCIsInBhZ2UiOiJwdWJsaWNhdGlvbiJ9fQ"/>
                        </a:rPr>
                        <a:t>Toyal Mazi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,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3" tooltip="https://www.researchgate.net/scientific-contributions/S-Tharun-Kumar-Reddy-2241236349?_tp=eyJjb250ZXh0Ijp7ImZpcnN0UGFnZSI6InNpZ251cCIsInBhZ2UiOiJwdWJsaWNhdGlvbiJ9fQ"/>
                        </a:rPr>
                        <a:t>S. Tharun Kumar Reddy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,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4" tooltip="https://www.researchgate.net/scientific-contributions/B-Rakesh-2241256138?_tp=eyJjb250ZXh0Ijp7ImZpcnN0UGFnZSI6InNpZ251cCIsInBhZ2UiOiJwdWJsaWNhdGlvbiJ9fQ"/>
                        </a:rPr>
                        <a:t>B. Rakesh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, </a:t>
                      </a: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  <a:hlinkClick r:id="rId5" tooltip="https://www.researchgate.net/scientific-contributions/N-Chandu-2241236481"/>
                        </a:rPr>
                        <a:t>N. Chandu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  <a:hlinkClick r:id="rId5" tooltip="https://www.researchgate.net/scientific-contributions/N-Chandu-2241236481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in January2023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Development of a machine learning architecture that can predict or detect illness. The main goal is to exercise a deep learning method to identify the virus that causes lumpy skin condition. An efficient method for recognizing photos is based on deep learning and is known as DenseNet-121.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Early Disease Detection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Objective Diagnosis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 Bold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Public Health Impact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Resource Intensiveness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Dependency on Image Quality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253943" y="2285597"/>
          <a:ext cx="17879697" cy="6972703"/>
        </p:xfrm>
        <a:graphic>
          <a:graphicData uri="http://schemas.openxmlformats.org/drawingml/2006/table">
            <a:tbl>
              <a:tblPr/>
              <a:tblGrid>
                <a:gridCol w="136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1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1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6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7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709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S.NO.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PROS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Georgia Pro Bold"/>
                        </a:rPr>
                        <a:t>CONS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61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spc="-24">
                          <a:solidFill>
                            <a:srgbClr val="FFFFFF"/>
                          </a:solidFill>
                          <a:latin typeface="Georgia Pro"/>
                        </a:rPr>
                        <a:t>Cow Disease (LSD) Classification System for predicting different Severity levels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Author: V.Sivamurugan, K.R. Uthayan, and V. Thanikachalam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spc="-24">
                          <a:solidFill>
                            <a:srgbClr val="5CE1E6"/>
                          </a:solidFill>
                          <a:latin typeface="Georgia Pro"/>
                        </a:rPr>
                        <a:t>Published in 2022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spc="-24">
                        <a:solidFill>
                          <a:srgbClr val="5CE1E6"/>
                        </a:solidFill>
                        <a:latin typeface="Georgia Pr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"/>
                        </a:rPr>
                        <a:t>In this research work, a classification system based on deep learning had  been proposed for predicting the different severity levels or grades of Lumpy Skin Disease.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High Accuracy Rate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Evaluation Across Multiple CNN Models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>
                        <a:solidFill>
                          <a:srgbClr val="FFFFFF"/>
                        </a:solidFill>
                        <a:latin typeface="Georgia Pro Bold"/>
                      </a:endParaRPr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Potential as a Diagnostic Tool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1100"/>
                    </a:p>
                    <a:p>
                      <a:pPr marL="539749" lvl="1" indent="-269875" algn="ctr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Georgia Pro Bold"/>
                        </a:rPr>
                        <a:t>Generalization to Other Regions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60221" y="479424"/>
            <a:ext cx="9253357" cy="107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45"/>
              </a:lnSpc>
              <a:spcBef>
                <a:spcPct val="0"/>
              </a:spcBef>
            </a:pPr>
            <a:r>
              <a:rPr lang="en-US" sz="6246" spc="499">
                <a:solidFill>
                  <a:srgbClr val="F4F6FC"/>
                </a:solidFill>
                <a:latin typeface="Alice Bold"/>
              </a:rPr>
              <a:t>LITERATURE SURVEY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9420" y="1255470"/>
            <a:ext cx="14429159" cy="8885375"/>
          </a:xfrm>
          <a:custGeom>
            <a:avLst/>
            <a:gdLst/>
            <a:ahLst/>
            <a:cxnLst/>
            <a:rect l="l" t="t" r="r" b="b"/>
            <a:pathLst>
              <a:path w="14429159" h="8885375">
                <a:moveTo>
                  <a:pt x="0" y="0"/>
                </a:moveTo>
                <a:lnTo>
                  <a:pt x="14429160" y="0"/>
                </a:lnTo>
                <a:lnTo>
                  <a:pt x="14429160" y="8885375"/>
                </a:lnTo>
                <a:lnTo>
                  <a:pt x="0" y="8885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05590" y="445845"/>
            <a:ext cx="827682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F4F6FC"/>
                </a:solidFill>
                <a:latin typeface="Alice Bold"/>
              </a:rPr>
              <a:t>PROJECT FLOWCHART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59168" y="1650961"/>
            <a:ext cx="14685573" cy="8260635"/>
          </a:xfrm>
          <a:custGeom>
            <a:avLst/>
            <a:gdLst/>
            <a:ahLst/>
            <a:cxnLst/>
            <a:rect l="l" t="t" r="r" b="b"/>
            <a:pathLst>
              <a:path w="14685573" h="8260635">
                <a:moveTo>
                  <a:pt x="0" y="0"/>
                </a:moveTo>
                <a:lnTo>
                  <a:pt x="14685573" y="0"/>
                </a:lnTo>
                <a:lnTo>
                  <a:pt x="14685573" y="8260635"/>
                </a:lnTo>
                <a:lnTo>
                  <a:pt x="0" y="826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3754" y="1650961"/>
            <a:ext cx="1855414" cy="1751572"/>
            <a:chOff x="0" y="0"/>
            <a:chExt cx="488669" cy="4613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42325" y="522281"/>
            <a:ext cx="637404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F4F6FC"/>
                </a:solidFill>
                <a:latin typeface="Alice Bold"/>
              </a:rPr>
              <a:t>BLOCK DIAGRAM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03754" y="3787885"/>
            <a:ext cx="1855414" cy="1751572"/>
            <a:chOff x="0" y="0"/>
            <a:chExt cx="488669" cy="461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3754" y="5920457"/>
            <a:ext cx="1855414" cy="1751572"/>
            <a:chOff x="0" y="0"/>
            <a:chExt cx="488669" cy="4613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3754" y="8053029"/>
            <a:ext cx="1855414" cy="1751572"/>
            <a:chOff x="0" y="0"/>
            <a:chExt cx="488669" cy="4613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566" y="1759194"/>
            <a:ext cx="1855414" cy="1751572"/>
            <a:chOff x="0" y="0"/>
            <a:chExt cx="488669" cy="461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566" y="3844141"/>
            <a:ext cx="1855414" cy="1751572"/>
            <a:chOff x="0" y="0"/>
            <a:chExt cx="488669" cy="461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2566" y="5929087"/>
            <a:ext cx="1855414" cy="1751572"/>
            <a:chOff x="0" y="0"/>
            <a:chExt cx="488669" cy="4613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566" y="8009539"/>
            <a:ext cx="1855414" cy="1751572"/>
            <a:chOff x="0" y="0"/>
            <a:chExt cx="488669" cy="4613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669" cy="461319"/>
            </a:xfrm>
            <a:custGeom>
              <a:avLst/>
              <a:gdLst/>
              <a:ahLst/>
              <a:cxnLst/>
              <a:rect l="l" t="t" r="r" b="b"/>
              <a:pathLst>
                <a:path w="488669" h="461319">
                  <a:moveTo>
                    <a:pt x="212803" y="0"/>
                  </a:moveTo>
                  <a:lnTo>
                    <a:pt x="275866" y="0"/>
                  </a:lnTo>
                  <a:cubicBezTo>
                    <a:pt x="332305" y="0"/>
                    <a:pt x="386432" y="22420"/>
                    <a:pt x="426340" y="62329"/>
                  </a:cubicBezTo>
                  <a:cubicBezTo>
                    <a:pt x="466249" y="102237"/>
                    <a:pt x="488669" y="156364"/>
                    <a:pt x="488669" y="212803"/>
                  </a:cubicBezTo>
                  <a:lnTo>
                    <a:pt x="488669" y="248516"/>
                  </a:lnTo>
                  <a:cubicBezTo>
                    <a:pt x="488669" y="366044"/>
                    <a:pt x="393394" y="461319"/>
                    <a:pt x="275866" y="461319"/>
                  </a:cubicBezTo>
                  <a:lnTo>
                    <a:pt x="212803" y="461319"/>
                  </a:lnTo>
                  <a:cubicBezTo>
                    <a:pt x="95275" y="461319"/>
                    <a:pt x="0" y="366044"/>
                    <a:pt x="0" y="248516"/>
                  </a:cubicBezTo>
                  <a:lnTo>
                    <a:pt x="0" y="212803"/>
                  </a:lnTo>
                  <a:cubicBezTo>
                    <a:pt x="0" y="156364"/>
                    <a:pt x="22420" y="102237"/>
                    <a:pt x="62329" y="62329"/>
                  </a:cubicBezTo>
                  <a:cubicBezTo>
                    <a:pt x="102237" y="22420"/>
                    <a:pt x="156364" y="0"/>
                    <a:pt x="212803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488669" cy="566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HK Grotesk Medium"/>
                </a:rPr>
                <a:t>8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2158782" y="1483266"/>
            <a:ext cx="15337209" cy="8602301"/>
          </a:xfrm>
          <a:custGeom>
            <a:avLst/>
            <a:gdLst/>
            <a:ahLst/>
            <a:cxnLst/>
            <a:rect l="l" t="t" r="r" b="b"/>
            <a:pathLst>
              <a:path w="15337209" h="8602301">
                <a:moveTo>
                  <a:pt x="0" y="0"/>
                </a:moveTo>
                <a:lnTo>
                  <a:pt x="15337209" y="0"/>
                </a:lnTo>
                <a:lnTo>
                  <a:pt x="15337209" y="8602301"/>
                </a:lnTo>
                <a:lnTo>
                  <a:pt x="0" y="8602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3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42325" y="522281"/>
            <a:ext cx="660335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F4F6FC"/>
                </a:solidFill>
                <a:latin typeface="Alice Bold"/>
              </a:rPr>
              <a:t>BLOCK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5175" y="1028700"/>
            <a:ext cx="9576262" cy="8229600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8464" y="2387829"/>
            <a:ext cx="18809900" cy="5511342"/>
            <a:chOff x="0" y="0"/>
            <a:chExt cx="4954048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54048" cy="1451547"/>
            </a:xfrm>
            <a:custGeom>
              <a:avLst/>
              <a:gdLst/>
              <a:ahLst/>
              <a:cxnLst/>
              <a:rect l="l" t="t" r="r" b="b"/>
              <a:pathLst>
                <a:path w="4954048" h="1451547">
                  <a:moveTo>
                    <a:pt x="0" y="0"/>
                  </a:moveTo>
                  <a:lnTo>
                    <a:pt x="4954048" y="0"/>
                  </a:lnTo>
                  <a:lnTo>
                    <a:pt x="4954048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954048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54881" y="1511968"/>
            <a:ext cx="8336850" cy="7263064"/>
            <a:chOff x="0" y="0"/>
            <a:chExt cx="6350000" cy="553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40080" y="875931"/>
            <a:ext cx="768303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FFFFFF"/>
                </a:solidFill>
                <a:latin typeface="Alice Bold"/>
              </a:rPr>
              <a:t>DATA COLLECTION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038975" y="9447772"/>
            <a:ext cx="4393457" cy="839228"/>
            <a:chOff x="0" y="0"/>
            <a:chExt cx="1157124" cy="221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78202" y="9258300"/>
            <a:ext cx="2664422" cy="1218172"/>
            <a:chOff x="0" y="0"/>
            <a:chExt cx="483446" cy="2210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88612" y="9258300"/>
            <a:ext cx="2664422" cy="1218172"/>
            <a:chOff x="0" y="0"/>
            <a:chExt cx="483446" cy="2210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197" y="1985377"/>
            <a:ext cx="7070216" cy="6316246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40080" y="3224920"/>
            <a:ext cx="9214801" cy="366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96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sz="3140">
                <a:solidFill>
                  <a:srgbClr val="050A30"/>
                </a:solidFill>
                <a:latin typeface="Alice Bold"/>
              </a:rPr>
              <a:t>Types of Cow                                       Number of Images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  <a:endParaRPr lang="en-US" sz="3140">
              <a:solidFill>
                <a:srgbClr val="050A30"/>
              </a:solidFill>
              <a:latin typeface="Alice Bold"/>
            </a:endParaRPr>
          </a:p>
          <a:p>
            <a:pPr algn="just">
              <a:lnSpc>
                <a:spcPts val="4396"/>
              </a:lnSpc>
              <a:spcBef>
                <a:spcPct val="0"/>
              </a:spcBef>
            </a:pPr>
            <a:endParaRPr lang="en-US" sz="3140">
              <a:solidFill>
                <a:srgbClr val="050A30"/>
              </a:solidFill>
              <a:latin typeface="Alice Bold"/>
            </a:endParaRPr>
          </a:p>
          <a:p>
            <a:pPr algn="just">
              <a:lnSpc>
                <a:spcPts val="4396"/>
              </a:lnSpc>
            </a:pPr>
            <a:r>
              <a:rPr lang="en-US" sz="3140">
                <a:solidFill>
                  <a:srgbClr val="050A30"/>
                </a:solidFill>
                <a:latin typeface="Alice Bold"/>
              </a:rPr>
              <a:t>Normal Cow                                         700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sz="3140">
                <a:solidFill>
                  <a:srgbClr val="050A30"/>
                </a:solidFill>
                <a:latin typeface="Alice Bold"/>
              </a:rPr>
              <a:t>Infected from Lumpy Disease       324</a:t>
            </a:r>
          </a:p>
          <a:p>
            <a:pPr algn="just">
              <a:lnSpc>
                <a:spcPts val="2784"/>
              </a:lnSpc>
              <a:spcBef>
                <a:spcPct val="0"/>
              </a:spcBef>
            </a:pPr>
            <a:endParaRPr lang="en-US" sz="3140">
              <a:solidFill>
                <a:srgbClr val="050A30"/>
              </a:solidFill>
              <a:latin typeface="Alice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950" y="1832029"/>
            <a:ext cx="7706695" cy="6622941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940931" y="2220949"/>
            <a:ext cx="0" cy="7037351"/>
          </a:xfrm>
          <a:prstGeom prst="line">
            <a:avLst/>
          </a:prstGeom>
          <a:ln w="114300" cap="flat">
            <a:solidFill>
              <a:srgbClr val="F4F6F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669200" y="2509592"/>
            <a:ext cx="543461" cy="467036"/>
            <a:chOff x="0" y="0"/>
            <a:chExt cx="8128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69200" y="4318672"/>
            <a:ext cx="543461" cy="467036"/>
            <a:chOff x="0" y="0"/>
            <a:chExt cx="8128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69200" y="6128421"/>
            <a:ext cx="543461" cy="467036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68356" y="1962060"/>
            <a:ext cx="6712874" cy="1562099"/>
            <a:chOff x="0" y="0"/>
            <a:chExt cx="3001693" cy="698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1693" cy="698500"/>
            </a:xfrm>
            <a:custGeom>
              <a:avLst/>
              <a:gdLst/>
              <a:ahLst/>
              <a:cxnLst/>
              <a:rect l="l" t="t" r="r" b="b"/>
              <a:pathLst>
                <a:path w="3001693" h="698500">
                  <a:moveTo>
                    <a:pt x="3001693" y="349250"/>
                  </a:moveTo>
                  <a:lnTo>
                    <a:pt x="279849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798493" y="0"/>
                  </a:lnTo>
                  <a:lnTo>
                    <a:pt x="3001693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14300" y="-38100"/>
              <a:ext cx="277309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68356" y="3771140"/>
            <a:ext cx="6712874" cy="1562099"/>
            <a:chOff x="0" y="0"/>
            <a:chExt cx="3001693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1693" cy="698500"/>
            </a:xfrm>
            <a:custGeom>
              <a:avLst/>
              <a:gdLst/>
              <a:ahLst/>
              <a:cxnLst/>
              <a:rect l="l" t="t" r="r" b="b"/>
              <a:pathLst>
                <a:path w="3001693" h="698500">
                  <a:moveTo>
                    <a:pt x="3001693" y="349250"/>
                  </a:moveTo>
                  <a:lnTo>
                    <a:pt x="279849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798493" y="0"/>
                  </a:lnTo>
                  <a:lnTo>
                    <a:pt x="3001693" y="34925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14300" y="-38100"/>
              <a:ext cx="277309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68356" y="5580889"/>
            <a:ext cx="6712874" cy="1562099"/>
            <a:chOff x="0" y="0"/>
            <a:chExt cx="3001693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01693" cy="698500"/>
            </a:xfrm>
            <a:custGeom>
              <a:avLst/>
              <a:gdLst/>
              <a:ahLst/>
              <a:cxnLst/>
              <a:rect l="l" t="t" r="r" b="b"/>
              <a:pathLst>
                <a:path w="3001693" h="698500">
                  <a:moveTo>
                    <a:pt x="3001693" y="349250"/>
                  </a:moveTo>
                  <a:lnTo>
                    <a:pt x="279849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798493" y="0"/>
                  </a:lnTo>
                  <a:lnTo>
                    <a:pt x="3001693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14300" y="-38100"/>
              <a:ext cx="277309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337928" y="2387829"/>
            <a:ext cx="6534491" cy="5511342"/>
            <a:chOff x="0" y="0"/>
            <a:chExt cx="1721018" cy="14515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21018" cy="1451547"/>
            </a:xfrm>
            <a:custGeom>
              <a:avLst/>
              <a:gdLst/>
              <a:ahLst/>
              <a:cxnLst/>
              <a:rect l="l" t="t" r="r" b="b"/>
              <a:pathLst>
                <a:path w="1721018" h="1451547">
                  <a:moveTo>
                    <a:pt x="0" y="0"/>
                  </a:moveTo>
                  <a:lnTo>
                    <a:pt x="1721018" y="0"/>
                  </a:lnTo>
                  <a:lnTo>
                    <a:pt x="1721018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21018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038153" y="0"/>
            <a:ext cx="4393457" cy="839228"/>
            <a:chOff x="0" y="0"/>
            <a:chExt cx="1157124" cy="2210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727014" y="9447772"/>
            <a:ext cx="4393457" cy="839228"/>
            <a:chOff x="0" y="0"/>
            <a:chExt cx="1157124" cy="22103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79025" y="-189472"/>
            <a:ext cx="2664422" cy="1218172"/>
            <a:chOff x="0" y="0"/>
            <a:chExt cx="483446" cy="2210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44191" y="9258300"/>
            <a:ext cx="2664422" cy="1218172"/>
            <a:chOff x="0" y="0"/>
            <a:chExt cx="483446" cy="22103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089434" y="-189472"/>
            <a:ext cx="2664422" cy="1218172"/>
            <a:chOff x="0" y="0"/>
            <a:chExt cx="483446" cy="22103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6854601" y="9258300"/>
            <a:ext cx="2664422" cy="1218172"/>
            <a:chOff x="0" y="0"/>
            <a:chExt cx="483446" cy="22103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22671" y="2220949"/>
            <a:ext cx="6709253" cy="5845101"/>
            <a:chOff x="0" y="0"/>
            <a:chExt cx="6350000" cy="55321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47" name="AutoShape 47"/>
          <p:cNvSpPr/>
          <p:nvPr/>
        </p:nvSpPr>
        <p:spPr>
          <a:xfrm rot="-7193308">
            <a:off x="-497852" y="6516002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AutoShape 48"/>
          <p:cNvSpPr/>
          <p:nvPr/>
        </p:nvSpPr>
        <p:spPr>
          <a:xfrm rot="-3598859">
            <a:off x="-501078" y="3680979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TextBox 49"/>
          <p:cNvSpPr txBox="1"/>
          <p:nvPr/>
        </p:nvSpPr>
        <p:spPr>
          <a:xfrm>
            <a:off x="1570456" y="4153681"/>
            <a:ext cx="6761469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050A30"/>
                </a:solidFill>
                <a:latin typeface="Georgia Pro Bold"/>
              </a:rPr>
              <a:t>Ratio</a:t>
            </a:r>
          </a:p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050A30"/>
                </a:solidFill>
                <a:latin typeface="Georgia Pro Bold"/>
              </a:rPr>
              <a:t>80:10:10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04925" y="2045544"/>
            <a:ext cx="2039737" cy="46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2"/>
              </a:lnSpc>
              <a:spcBef>
                <a:spcPct val="0"/>
              </a:spcBef>
            </a:pPr>
            <a:r>
              <a:rPr lang="en-US" sz="2730" spc="218">
                <a:solidFill>
                  <a:srgbClr val="050A30"/>
                </a:solidFill>
                <a:latin typeface="HK Grotesk Bold"/>
              </a:rPr>
              <a:t>TRAINING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591854" y="3876585"/>
            <a:ext cx="2465878" cy="46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2"/>
              </a:lnSpc>
              <a:spcBef>
                <a:spcPct val="0"/>
              </a:spcBef>
            </a:pPr>
            <a:r>
              <a:rPr lang="en-US" sz="2730" spc="218">
                <a:solidFill>
                  <a:srgbClr val="FFFFFF"/>
                </a:solidFill>
                <a:latin typeface="HK Grotesk Bold"/>
              </a:rPr>
              <a:t>VALIDATION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946862" y="5685664"/>
            <a:ext cx="2110870" cy="46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2"/>
              </a:lnSpc>
              <a:spcBef>
                <a:spcPct val="0"/>
              </a:spcBef>
            </a:pPr>
            <a:r>
              <a:rPr lang="en-US" sz="2730" spc="218">
                <a:solidFill>
                  <a:srgbClr val="050A30"/>
                </a:solidFill>
                <a:latin typeface="HK Grotesk Bold"/>
              </a:rPr>
              <a:t>TESTING1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946862" y="2636522"/>
            <a:ext cx="1755862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199">
                <a:solidFill>
                  <a:srgbClr val="050A30"/>
                </a:solidFill>
                <a:latin typeface="HK Grotesk Medium"/>
              </a:rPr>
              <a:t>Normal:560</a:t>
            </a:r>
          </a:p>
          <a:p>
            <a:pPr>
              <a:lnSpc>
                <a:spcPts val="2683"/>
              </a:lnSpc>
            </a:pPr>
            <a:r>
              <a:rPr lang="en-US" sz="2199">
                <a:solidFill>
                  <a:srgbClr val="050A30"/>
                </a:solidFill>
                <a:latin typeface="HK Grotesk Medium"/>
              </a:rPr>
              <a:t>Lumpy:260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118538" y="4583141"/>
            <a:ext cx="1610410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199">
                <a:solidFill>
                  <a:srgbClr val="FFFFFF"/>
                </a:solidFill>
                <a:latin typeface="HK Grotesk Medium"/>
              </a:rPr>
              <a:t>Normal:70</a:t>
            </a:r>
          </a:p>
          <a:p>
            <a:pPr>
              <a:lnSpc>
                <a:spcPts val="2683"/>
              </a:lnSpc>
            </a:pPr>
            <a:r>
              <a:rPr lang="en-US" sz="2199">
                <a:solidFill>
                  <a:srgbClr val="FFFFFF"/>
                </a:solidFill>
                <a:latin typeface="HK Grotesk Medium"/>
              </a:rPr>
              <a:t>Lumpy:32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017995" y="6320879"/>
            <a:ext cx="1613595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199">
                <a:solidFill>
                  <a:srgbClr val="050A30"/>
                </a:solidFill>
                <a:latin typeface="HK Grotesk Medium"/>
              </a:rPr>
              <a:t>Normal:70</a:t>
            </a:r>
          </a:p>
          <a:p>
            <a:pPr>
              <a:lnSpc>
                <a:spcPts val="2683"/>
              </a:lnSpc>
            </a:pPr>
            <a:r>
              <a:rPr lang="en-US" sz="2199">
                <a:solidFill>
                  <a:srgbClr val="050A30"/>
                </a:solidFill>
                <a:latin typeface="HK Grotesk Medium"/>
              </a:rPr>
              <a:t>Lumpy:32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53857" y="581079"/>
            <a:ext cx="1042737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FFFFFF"/>
                </a:solidFill>
                <a:latin typeface="Alice Bold"/>
              </a:rPr>
              <a:t>NUMBER OF IMAGES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0567306" y="7552564"/>
            <a:ext cx="6712874" cy="1562099"/>
            <a:chOff x="0" y="0"/>
            <a:chExt cx="3001693" cy="6985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001693" cy="698500"/>
            </a:xfrm>
            <a:custGeom>
              <a:avLst/>
              <a:gdLst/>
              <a:ahLst/>
              <a:cxnLst/>
              <a:rect l="l" t="t" r="r" b="b"/>
              <a:pathLst>
                <a:path w="3001693" h="698500">
                  <a:moveTo>
                    <a:pt x="3001693" y="349250"/>
                  </a:moveTo>
                  <a:lnTo>
                    <a:pt x="279849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798493" y="0"/>
                  </a:lnTo>
                  <a:lnTo>
                    <a:pt x="3001693" y="34925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114300" y="-38100"/>
              <a:ext cx="277309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69200" y="8100095"/>
            <a:ext cx="543461" cy="467036"/>
            <a:chOff x="0" y="0"/>
            <a:chExt cx="812800" cy="6985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2946862" y="7736468"/>
            <a:ext cx="2110870" cy="46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2"/>
              </a:lnSpc>
              <a:spcBef>
                <a:spcPct val="0"/>
              </a:spcBef>
            </a:pPr>
            <a:r>
              <a:rPr lang="en-US" sz="2730" spc="218">
                <a:solidFill>
                  <a:srgbClr val="FFFFFF"/>
                </a:solidFill>
                <a:latin typeface="HK Grotesk Bold"/>
              </a:rPr>
              <a:t>TESTING2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017995" y="8324088"/>
            <a:ext cx="1613595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3"/>
              </a:lnSpc>
            </a:pPr>
            <a:r>
              <a:rPr lang="en-US" sz="2199">
                <a:solidFill>
                  <a:srgbClr val="FFFFFF"/>
                </a:solidFill>
                <a:latin typeface="HK Grotesk Medium"/>
              </a:rPr>
              <a:t>Normal:5</a:t>
            </a:r>
          </a:p>
          <a:p>
            <a:pPr>
              <a:lnSpc>
                <a:spcPts val="2683"/>
              </a:lnSpc>
            </a:pPr>
            <a:r>
              <a:rPr lang="en-US" sz="2199">
                <a:solidFill>
                  <a:srgbClr val="FFFFFF"/>
                </a:solidFill>
                <a:latin typeface="HK Grotesk Medium"/>
              </a:rPr>
              <a:t>Lumpy:3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9932" y="2636451"/>
            <a:ext cx="15708423" cy="79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Rotation:</a:t>
            </a:r>
            <a:r>
              <a:rPr lang="en-US" sz="2793">
                <a:solidFill>
                  <a:srgbClr val="508AC3"/>
                </a:solidFill>
                <a:latin typeface="Open Sans"/>
              </a:rPr>
              <a:t> 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up to 20 degrees, enhancing viewpoint variability in training.</a:t>
            </a:r>
          </a:p>
          <a:p>
            <a:pPr algn="l">
              <a:lnSpc>
                <a:spcPts val="4655"/>
              </a:lnSpc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79644" y="2479345"/>
            <a:ext cx="718750" cy="7187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885217" y="2489668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5"/>
              </a:lnSpc>
            </a:pPr>
            <a:r>
              <a:rPr lang="en-US" sz="2793">
                <a:solidFill>
                  <a:srgbClr val="000000"/>
                </a:solidFill>
                <a:latin typeface="Open Sans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9932" y="3719772"/>
            <a:ext cx="15708423" cy="72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Width Shift: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up to 20%, diversifying spatial features in data.</a:t>
            </a:r>
          </a:p>
          <a:p>
            <a:pPr marL="0" lvl="1" indent="0" algn="l">
              <a:lnSpc>
                <a:spcPts val="2793"/>
              </a:lnSpc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79644" y="3512532"/>
            <a:ext cx="718750" cy="7187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85217" y="3567372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 u="none">
                <a:solidFill>
                  <a:srgbClr val="000000"/>
                </a:solidFill>
                <a:latin typeface="Open San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9932" y="5779630"/>
            <a:ext cx="15708423" cy="9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Shear: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with  20% intensity, contributing to robustness against deformations.</a:t>
            </a:r>
          </a:p>
          <a:p>
            <a:pPr marL="0" lvl="1" indent="0" algn="l">
              <a:lnSpc>
                <a:spcPts val="5586"/>
              </a:lnSpc>
              <a:spcBef>
                <a:spcPct val="0"/>
              </a:spcBef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79644" y="5677210"/>
            <a:ext cx="718750" cy="7187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85217" y="5687532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 u="none">
                <a:solidFill>
                  <a:srgbClr val="000000"/>
                </a:solidFill>
                <a:latin typeface="Open Sa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932" y="4721777"/>
            <a:ext cx="15708423" cy="9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Height Shift: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up to 20%, introducing variations in object positions</a:t>
            </a:r>
          </a:p>
          <a:p>
            <a:pPr marL="0" lvl="1" indent="0" algn="l">
              <a:lnSpc>
                <a:spcPts val="5586"/>
              </a:lnSpc>
              <a:spcBef>
                <a:spcPct val="0"/>
              </a:spcBef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79644" y="4541663"/>
            <a:ext cx="718750" cy="71875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85217" y="4551986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 u="none">
                <a:solidFill>
                  <a:srgbClr val="000000"/>
                </a:solidFill>
                <a:latin typeface="Open San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9932" y="6916683"/>
            <a:ext cx="15708423" cy="9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Zoom: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up to 20%, improving model's scale invariance.</a:t>
            </a:r>
          </a:p>
          <a:p>
            <a:pPr marL="0" lvl="1" indent="0" algn="l">
              <a:lnSpc>
                <a:spcPts val="5586"/>
              </a:lnSpc>
              <a:spcBef>
                <a:spcPct val="0"/>
              </a:spcBef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779644" y="6811913"/>
            <a:ext cx="718750" cy="718750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885217" y="6824585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 u="none">
                <a:solidFill>
                  <a:srgbClr val="000000"/>
                </a:solidFill>
                <a:latin typeface="Open Sans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94067" y="561975"/>
            <a:ext cx="1129986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508AC3"/>
                </a:solidFill>
                <a:latin typeface="Alice Bold"/>
              </a:rPr>
              <a:t>AUGMENTATION TECHNIQUES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99932" y="7936938"/>
            <a:ext cx="15708423" cy="9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Horizontal Flip: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enhances model generalization by introducing mirror reflections.</a:t>
            </a:r>
          </a:p>
          <a:p>
            <a:pPr marL="0" lvl="1" indent="0" algn="l">
              <a:lnSpc>
                <a:spcPts val="5586"/>
              </a:lnSpc>
              <a:spcBef>
                <a:spcPct val="0"/>
              </a:spcBef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779644" y="7790000"/>
            <a:ext cx="718750" cy="718750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85217" y="7844840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>
                <a:solidFill>
                  <a:srgbClr val="000000"/>
                </a:solidFill>
                <a:latin typeface="Open Sans Bold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99932" y="9105673"/>
            <a:ext cx="16255180" cy="9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2793">
                <a:solidFill>
                  <a:srgbClr val="508AC3"/>
                </a:solidFill>
                <a:latin typeface="Open Sans Bold"/>
              </a:rPr>
              <a:t>Fill Mode:</a:t>
            </a:r>
            <a:r>
              <a:rPr lang="en-US" sz="2793">
                <a:solidFill>
                  <a:srgbClr val="FFFFFF"/>
                </a:solidFill>
                <a:latin typeface="Open Sans"/>
              </a:rPr>
              <a:t> Determines strategy for filling new pixels; uses the nearest pixel value for consistency.</a:t>
            </a:r>
          </a:p>
          <a:p>
            <a:pPr marL="0" lvl="1" indent="0" algn="l">
              <a:lnSpc>
                <a:spcPts val="5586"/>
              </a:lnSpc>
              <a:spcBef>
                <a:spcPct val="0"/>
              </a:spcBef>
            </a:pPr>
            <a:endParaRPr lang="en-US" sz="2793">
              <a:solidFill>
                <a:srgbClr val="FFFFFF"/>
              </a:solidFill>
              <a:latin typeface="Open San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79644" y="8924703"/>
            <a:ext cx="718750" cy="718750"/>
            <a:chOff x="0" y="0"/>
            <a:chExt cx="6350000" cy="635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6C6C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885217" y="9013575"/>
            <a:ext cx="507605" cy="51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85"/>
              </a:lnSpc>
              <a:spcBef>
                <a:spcPct val="0"/>
              </a:spcBef>
            </a:pPr>
            <a:r>
              <a:rPr lang="en-US" sz="2793">
                <a:solidFill>
                  <a:srgbClr val="000000"/>
                </a:solidFill>
                <a:latin typeface="Open Sans Bold"/>
              </a:rP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51621" y="2369867"/>
            <a:ext cx="17191255" cy="438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  <a:p>
            <a:pPr>
              <a:lnSpc>
                <a:spcPts val="4339"/>
              </a:lnSpc>
            </a:pPr>
            <a:r>
              <a:rPr lang="en-US" sz="3099">
                <a:solidFill>
                  <a:srgbClr val="508AC3"/>
                </a:solidFill>
                <a:latin typeface="Georgia Pro Bold"/>
              </a:rPr>
              <a:t>1. Input Processing:</a:t>
            </a:r>
          </a:p>
          <a:p>
            <a:pPr>
              <a:lnSpc>
                <a:spcPts val="4339"/>
              </a:lnSpc>
            </a:pPr>
            <a:endParaRPr lang="en-US" sz="3099">
              <a:solidFill>
                <a:srgbClr val="508AC3"/>
              </a:solidFill>
              <a:latin typeface="Georgia Pro Bold"/>
            </a:endParaRPr>
          </a:p>
          <a:p>
            <a:pPr>
              <a:lnSpc>
                <a:spcPts val="4339"/>
              </a:lnSpc>
            </a:pPr>
            <a:endParaRPr lang="en-US" sz="3099">
              <a:solidFill>
                <a:srgbClr val="508AC3"/>
              </a:solidFill>
              <a:latin typeface="Georgia Pro Bold"/>
            </a:endParaRPr>
          </a:p>
          <a:p>
            <a:pPr>
              <a:lnSpc>
                <a:spcPts val="4339"/>
              </a:lnSpc>
            </a:pPr>
            <a:endParaRPr lang="en-US" sz="3099">
              <a:solidFill>
                <a:srgbClr val="508AC3"/>
              </a:solidFill>
              <a:latin typeface="Georgia Pro Bold"/>
            </a:endParaRPr>
          </a:p>
          <a:p>
            <a:pPr>
              <a:lnSpc>
                <a:spcPts val="4339"/>
              </a:lnSpc>
            </a:pPr>
            <a:endParaRPr lang="en-US" sz="3099">
              <a:solidFill>
                <a:srgbClr val="508AC3"/>
              </a:solidFill>
              <a:latin typeface="Georgia Pro Bold"/>
            </a:endParaRPr>
          </a:p>
          <a:p>
            <a:pPr>
              <a:lnSpc>
                <a:spcPts val="4339"/>
              </a:lnSpc>
            </a:pPr>
            <a:r>
              <a:rPr lang="en-US" sz="3099">
                <a:solidFill>
                  <a:srgbClr val="508AC3"/>
                </a:solidFill>
                <a:latin typeface="Georgia Pro Bold"/>
              </a:rPr>
              <a:t>2. Block Structure (Repeating for 16 Blocks):</a:t>
            </a:r>
          </a:p>
          <a:p>
            <a:pPr>
              <a:lnSpc>
                <a:spcPts val="4339"/>
              </a:lnSpc>
            </a:pPr>
            <a:endParaRPr lang="en-US" sz="3099">
              <a:solidFill>
                <a:srgbClr val="508AC3"/>
              </a:solidFill>
              <a:latin typeface="Georgia Pro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768814" y="4049949"/>
            <a:ext cx="2977873" cy="1348881"/>
            <a:chOff x="0" y="0"/>
            <a:chExt cx="784296" cy="3552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4296" cy="355261"/>
            </a:xfrm>
            <a:custGeom>
              <a:avLst/>
              <a:gdLst/>
              <a:ahLst/>
              <a:cxnLst/>
              <a:rect l="l" t="t" r="r" b="b"/>
              <a:pathLst>
                <a:path w="784296" h="355261">
                  <a:moveTo>
                    <a:pt x="132591" y="0"/>
                  </a:moveTo>
                  <a:lnTo>
                    <a:pt x="651705" y="0"/>
                  </a:lnTo>
                  <a:cubicBezTo>
                    <a:pt x="724933" y="0"/>
                    <a:pt x="784296" y="59363"/>
                    <a:pt x="784296" y="132591"/>
                  </a:cubicBezTo>
                  <a:lnTo>
                    <a:pt x="784296" y="222670"/>
                  </a:lnTo>
                  <a:cubicBezTo>
                    <a:pt x="784296" y="295898"/>
                    <a:pt x="724933" y="355261"/>
                    <a:pt x="651705" y="355261"/>
                  </a:cubicBezTo>
                  <a:lnTo>
                    <a:pt x="132591" y="355261"/>
                  </a:lnTo>
                  <a:cubicBezTo>
                    <a:pt x="97425" y="355261"/>
                    <a:pt x="63700" y="341291"/>
                    <a:pt x="38835" y="316426"/>
                  </a:cubicBezTo>
                  <a:cubicBezTo>
                    <a:pt x="13969" y="291560"/>
                    <a:pt x="0" y="257835"/>
                    <a:pt x="0" y="222670"/>
                  </a:cubicBezTo>
                  <a:lnTo>
                    <a:pt x="0" y="132591"/>
                  </a:lnTo>
                  <a:cubicBezTo>
                    <a:pt x="0" y="97425"/>
                    <a:pt x="13969" y="63700"/>
                    <a:pt x="38835" y="38835"/>
                  </a:cubicBezTo>
                  <a:cubicBezTo>
                    <a:pt x="63700" y="13969"/>
                    <a:pt x="97425" y="0"/>
                    <a:pt x="132591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784296" cy="421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HK Grotesk Medium"/>
                </a:rPr>
                <a:t>Input Data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48372" y="1143000"/>
            <a:ext cx="12153667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99"/>
              </a:lnSpc>
            </a:pPr>
            <a:r>
              <a:rPr lang="en-US" sz="6199">
                <a:solidFill>
                  <a:srgbClr val="FFFFFF"/>
                </a:solidFill>
                <a:latin typeface="Alice Bold"/>
              </a:rPr>
              <a:t>MODEL SUMMARY: MobileNetV2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4746687" y="4708515"/>
            <a:ext cx="2503180" cy="158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7249868" y="4049949"/>
            <a:ext cx="3032088" cy="1317131"/>
            <a:chOff x="0" y="0"/>
            <a:chExt cx="798575" cy="3468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98575" cy="346899"/>
            </a:xfrm>
            <a:custGeom>
              <a:avLst/>
              <a:gdLst/>
              <a:ahLst/>
              <a:cxnLst/>
              <a:rect l="l" t="t" r="r" b="b"/>
              <a:pathLst>
                <a:path w="798575" h="346899">
                  <a:moveTo>
                    <a:pt x="130220" y="0"/>
                  </a:moveTo>
                  <a:lnTo>
                    <a:pt x="668355" y="0"/>
                  </a:lnTo>
                  <a:cubicBezTo>
                    <a:pt x="740273" y="0"/>
                    <a:pt x="798575" y="58301"/>
                    <a:pt x="798575" y="130220"/>
                  </a:cubicBezTo>
                  <a:lnTo>
                    <a:pt x="798575" y="216679"/>
                  </a:lnTo>
                  <a:cubicBezTo>
                    <a:pt x="798575" y="251215"/>
                    <a:pt x="784855" y="284337"/>
                    <a:pt x="760434" y="308758"/>
                  </a:cubicBezTo>
                  <a:cubicBezTo>
                    <a:pt x="736013" y="333179"/>
                    <a:pt x="702891" y="346899"/>
                    <a:pt x="668355" y="346899"/>
                  </a:cubicBezTo>
                  <a:lnTo>
                    <a:pt x="130220" y="346899"/>
                  </a:lnTo>
                  <a:cubicBezTo>
                    <a:pt x="58301" y="346899"/>
                    <a:pt x="0" y="288597"/>
                    <a:pt x="0" y="216679"/>
                  </a:cubicBezTo>
                  <a:lnTo>
                    <a:pt x="0" y="130220"/>
                  </a:lnTo>
                  <a:cubicBezTo>
                    <a:pt x="0" y="58301"/>
                    <a:pt x="58301" y="0"/>
                    <a:pt x="130220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798575" cy="423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FFFFFF"/>
                  </a:solidFill>
                  <a:latin typeface="HK Grotesk Medium"/>
                </a:rPr>
                <a:t>Input Layer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10281956" y="4671072"/>
            <a:ext cx="2853237" cy="3744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3135193" y="4049949"/>
            <a:ext cx="3710808" cy="1242245"/>
            <a:chOff x="0" y="0"/>
            <a:chExt cx="977332" cy="3271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7332" cy="327176"/>
            </a:xfrm>
            <a:custGeom>
              <a:avLst/>
              <a:gdLst/>
              <a:ahLst/>
              <a:cxnLst/>
              <a:rect l="l" t="t" r="r" b="b"/>
              <a:pathLst>
                <a:path w="977332" h="327176">
                  <a:moveTo>
                    <a:pt x="106402" y="0"/>
                  </a:moveTo>
                  <a:lnTo>
                    <a:pt x="870930" y="0"/>
                  </a:lnTo>
                  <a:cubicBezTo>
                    <a:pt x="929694" y="0"/>
                    <a:pt x="977332" y="47638"/>
                    <a:pt x="977332" y="106402"/>
                  </a:cubicBezTo>
                  <a:lnTo>
                    <a:pt x="977332" y="220774"/>
                  </a:lnTo>
                  <a:cubicBezTo>
                    <a:pt x="977332" y="279538"/>
                    <a:pt x="929694" y="327176"/>
                    <a:pt x="870930" y="327176"/>
                  </a:cubicBezTo>
                  <a:lnTo>
                    <a:pt x="106402" y="327176"/>
                  </a:lnTo>
                  <a:cubicBezTo>
                    <a:pt x="47638" y="327176"/>
                    <a:pt x="0" y="279538"/>
                    <a:pt x="0" y="220774"/>
                  </a:cubicBezTo>
                  <a:lnTo>
                    <a:pt x="0" y="106402"/>
                  </a:lnTo>
                  <a:cubicBezTo>
                    <a:pt x="0" y="47638"/>
                    <a:pt x="47638" y="0"/>
                    <a:pt x="106402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977332" cy="393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HK Grotesk Medium"/>
                </a:rPr>
                <a:t>ConV 2D Layer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8372" y="7095835"/>
            <a:ext cx="4792518" cy="1303107"/>
            <a:chOff x="0" y="0"/>
            <a:chExt cx="1262227" cy="3432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62227" cy="343205"/>
            </a:xfrm>
            <a:custGeom>
              <a:avLst/>
              <a:gdLst/>
              <a:ahLst/>
              <a:cxnLst/>
              <a:rect l="l" t="t" r="r" b="b"/>
              <a:pathLst>
                <a:path w="1262227" h="343205">
                  <a:moveTo>
                    <a:pt x="82386" y="0"/>
                  </a:moveTo>
                  <a:lnTo>
                    <a:pt x="1179841" y="0"/>
                  </a:lnTo>
                  <a:cubicBezTo>
                    <a:pt x="1201691" y="0"/>
                    <a:pt x="1222646" y="8680"/>
                    <a:pt x="1238097" y="24130"/>
                  </a:cubicBezTo>
                  <a:cubicBezTo>
                    <a:pt x="1253547" y="39581"/>
                    <a:pt x="1262227" y="60536"/>
                    <a:pt x="1262227" y="82386"/>
                  </a:cubicBezTo>
                  <a:lnTo>
                    <a:pt x="1262227" y="260819"/>
                  </a:lnTo>
                  <a:cubicBezTo>
                    <a:pt x="1262227" y="282669"/>
                    <a:pt x="1253547" y="303624"/>
                    <a:pt x="1238097" y="319075"/>
                  </a:cubicBezTo>
                  <a:cubicBezTo>
                    <a:pt x="1222646" y="334525"/>
                    <a:pt x="1201691" y="343205"/>
                    <a:pt x="1179841" y="343205"/>
                  </a:cubicBezTo>
                  <a:lnTo>
                    <a:pt x="82386" y="343205"/>
                  </a:lnTo>
                  <a:cubicBezTo>
                    <a:pt x="60536" y="343205"/>
                    <a:pt x="39581" y="334525"/>
                    <a:pt x="24130" y="319075"/>
                  </a:cubicBezTo>
                  <a:cubicBezTo>
                    <a:pt x="8680" y="303624"/>
                    <a:pt x="0" y="282669"/>
                    <a:pt x="0" y="260819"/>
                  </a:cubicBezTo>
                  <a:lnTo>
                    <a:pt x="0" y="82386"/>
                  </a:lnTo>
                  <a:cubicBezTo>
                    <a:pt x="0" y="60536"/>
                    <a:pt x="8680" y="39581"/>
                    <a:pt x="24130" y="24130"/>
                  </a:cubicBezTo>
                  <a:cubicBezTo>
                    <a:pt x="39581" y="8680"/>
                    <a:pt x="60536" y="0"/>
                    <a:pt x="82386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262227" cy="409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HK Grotesk Medium"/>
                </a:rPr>
                <a:t>ConV 2D Layer, Batch Normalization, ReLu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5340890" y="7747389"/>
            <a:ext cx="218606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7526954" y="6945042"/>
            <a:ext cx="4614846" cy="1780894"/>
            <a:chOff x="0" y="0"/>
            <a:chExt cx="1215433" cy="4690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5433" cy="469042"/>
            </a:xfrm>
            <a:custGeom>
              <a:avLst/>
              <a:gdLst/>
              <a:ahLst/>
              <a:cxnLst/>
              <a:rect l="l" t="t" r="r" b="b"/>
              <a:pathLst>
                <a:path w="1215433" h="469042">
                  <a:moveTo>
                    <a:pt x="85558" y="0"/>
                  </a:moveTo>
                  <a:lnTo>
                    <a:pt x="1129874" y="0"/>
                  </a:lnTo>
                  <a:cubicBezTo>
                    <a:pt x="1177127" y="0"/>
                    <a:pt x="1215433" y="38306"/>
                    <a:pt x="1215433" y="85558"/>
                  </a:cubicBezTo>
                  <a:lnTo>
                    <a:pt x="1215433" y="383484"/>
                  </a:lnTo>
                  <a:cubicBezTo>
                    <a:pt x="1215433" y="406175"/>
                    <a:pt x="1206418" y="427937"/>
                    <a:pt x="1190373" y="443983"/>
                  </a:cubicBezTo>
                  <a:cubicBezTo>
                    <a:pt x="1174328" y="460028"/>
                    <a:pt x="1152566" y="469042"/>
                    <a:pt x="1129874" y="469042"/>
                  </a:cubicBezTo>
                  <a:lnTo>
                    <a:pt x="85558" y="469042"/>
                  </a:lnTo>
                  <a:cubicBezTo>
                    <a:pt x="38306" y="469042"/>
                    <a:pt x="0" y="430736"/>
                    <a:pt x="0" y="383484"/>
                  </a:cubicBezTo>
                  <a:lnTo>
                    <a:pt x="0" y="85558"/>
                  </a:lnTo>
                  <a:cubicBezTo>
                    <a:pt x="0" y="38306"/>
                    <a:pt x="38306" y="0"/>
                    <a:pt x="85558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215433" cy="53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HK Grotesk Medium"/>
                </a:rPr>
                <a:t>Depth wise Convolution, Batch Normalization, ReLu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2141800" y="7816439"/>
            <a:ext cx="218606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14327864" y="7095835"/>
            <a:ext cx="3314318" cy="1280596"/>
            <a:chOff x="0" y="0"/>
            <a:chExt cx="872907" cy="3372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72907" cy="337276"/>
            </a:xfrm>
            <a:custGeom>
              <a:avLst/>
              <a:gdLst/>
              <a:ahLst/>
              <a:cxnLst/>
              <a:rect l="l" t="t" r="r" b="b"/>
              <a:pathLst>
                <a:path w="872907" h="337276">
                  <a:moveTo>
                    <a:pt x="119131" y="0"/>
                  </a:moveTo>
                  <a:lnTo>
                    <a:pt x="753776" y="0"/>
                  </a:lnTo>
                  <a:cubicBezTo>
                    <a:pt x="819570" y="0"/>
                    <a:pt x="872907" y="53337"/>
                    <a:pt x="872907" y="119131"/>
                  </a:cubicBezTo>
                  <a:lnTo>
                    <a:pt x="872907" y="218145"/>
                  </a:lnTo>
                  <a:cubicBezTo>
                    <a:pt x="872907" y="249741"/>
                    <a:pt x="860355" y="280042"/>
                    <a:pt x="838014" y="302384"/>
                  </a:cubicBezTo>
                  <a:cubicBezTo>
                    <a:pt x="815673" y="324725"/>
                    <a:pt x="785371" y="337276"/>
                    <a:pt x="753776" y="337276"/>
                  </a:cubicBezTo>
                  <a:lnTo>
                    <a:pt x="119131" y="337276"/>
                  </a:lnTo>
                  <a:cubicBezTo>
                    <a:pt x="87535" y="337276"/>
                    <a:pt x="57234" y="324725"/>
                    <a:pt x="34893" y="302384"/>
                  </a:cubicBezTo>
                  <a:cubicBezTo>
                    <a:pt x="12551" y="280042"/>
                    <a:pt x="0" y="249741"/>
                    <a:pt x="0" y="218145"/>
                  </a:cubicBezTo>
                  <a:lnTo>
                    <a:pt x="0" y="119131"/>
                  </a:lnTo>
                  <a:cubicBezTo>
                    <a:pt x="0" y="87535"/>
                    <a:pt x="12551" y="57234"/>
                    <a:pt x="34893" y="34893"/>
                  </a:cubicBezTo>
                  <a:cubicBezTo>
                    <a:pt x="57234" y="12551"/>
                    <a:pt x="87535" y="0"/>
                    <a:pt x="119131" y="0"/>
                  </a:cubicBezTo>
                  <a:close/>
                </a:path>
              </a:pathLst>
            </a:custGeom>
            <a:solidFill>
              <a:srgbClr val="7B9BD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872907" cy="403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HK Grotesk Medium"/>
                </a:rPr>
                <a:t>Projection Convolution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H="1" flipV="1">
            <a:off x="2963675" y="8399442"/>
            <a:ext cx="35066" cy="133678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6" name="AutoShape 36"/>
          <p:cNvSpPr/>
          <p:nvPr/>
        </p:nvSpPr>
        <p:spPr>
          <a:xfrm>
            <a:off x="2963675" y="9755278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9455915" y="9755278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flipH="1">
            <a:off x="15966021" y="8376431"/>
            <a:ext cx="19002" cy="137749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8A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1091" y="2375157"/>
            <a:ext cx="17065817" cy="742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6"/>
              </a:lnSpc>
            </a:pPr>
            <a:endParaRPr/>
          </a:p>
          <a:p>
            <a:pPr algn="just">
              <a:lnSpc>
                <a:spcPts val="4416"/>
              </a:lnSpc>
            </a:pPr>
            <a:r>
              <a:rPr lang="en-US" sz="3154">
                <a:solidFill>
                  <a:srgbClr val="508AC3"/>
                </a:solidFill>
                <a:latin typeface="Georgia Pro Bold"/>
              </a:rPr>
              <a:t>3. Intermediate Layers: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 block_16_expand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block_16_project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Conv_1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 Conv_1_bn</a:t>
            </a:r>
          </a:p>
          <a:p>
            <a:pPr algn="just">
              <a:lnSpc>
                <a:spcPts val="4416"/>
              </a:lnSpc>
            </a:pPr>
            <a:endParaRPr lang="en-US" sz="3154">
              <a:solidFill>
                <a:srgbClr val="F4F6FC"/>
              </a:solidFill>
              <a:latin typeface="Georgia Pro"/>
            </a:endParaRPr>
          </a:p>
          <a:p>
            <a:pPr algn="just">
              <a:lnSpc>
                <a:spcPts val="4416"/>
              </a:lnSpc>
            </a:pPr>
            <a:r>
              <a:rPr lang="en-US" sz="3154">
                <a:solidFill>
                  <a:srgbClr val="508AC3"/>
                </a:solidFill>
                <a:latin typeface="Georgia Pro Bold"/>
              </a:rPr>
              <a:t>4. Output Processing: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The architecture concludes with global average pooling, followed by fully connected layers ("dense," "dense_1," "dense_2," and "dense_3").</a:t>
            </a:r>
          </a:p>
          <a:p>
            <a:pPr marL="681030" lvl="1" indent="-340515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F4F6FC"/>
                </a:solidFill>
                <a:latin typeface="Georgia Pro"/>
              </a:rPr>
              <a:t>The final layer produces the output.</a:t>
            </a:r>
          </a:p>
          <a:p>
            <a:pPr algn="just">
              <a:lnSpc>
                <a:spcPts val="5004"/>
              </a:lnSpc>
            </a:pPr>
            <a:endParaRPr lang="en-US" sz="3154">
              <a:solidFill>
                <a:srgbClr val="F4F6FC"/>
              </a:solidFill>
              <a:latin typeface="Georgia Pro"/>
            </a:endParaRPr>
          </a:p>
          <a:p>
            <a:pPr algn="just">
              <a:lnSpc>
                <a:spcPts val="5004"/>
              </a:lnSpc>
            </a:pPr>
            <a:endParaRPr lang="en-US" sz="3154">
              <a:solidFill>
                <a:srgbClr val="F4F6FC"/>
              </a:solidFill>
              <a:latin typeface="Georgia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39544" y="1143000"/>
            <a:ext cx="12153667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99"/>
              </a:lnSpc>
            </a:pPr>
            <a:r>
              <a:rPr lang="en-US" sz="6199">
                <a:solidFill>
                  <a:srgbClr val="FFFFFF"/>
                </a:solidFill>
                <a:latin typeface="Alice Bold"/>
              </a:rPr>
              <a:t>MODEL SUMMARY: MobileNetV2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788959">
            <a:off x="13703365" y="1809816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9045464">
            <a:off x="10877874" y="1795575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3232836" y="0"/>
            <a:ext cx="13300095" cy="10287000"/>
          </a:xfrm>
          <a:custGeom>
            <a:avLst/>
            <a:gdLst/>
            <a:ahLst/>
            <a:cxnLst/>
            <a:rect l="l" t="t" r="r" b="b"/>
            <a:pathLst>
              <a:path w="13300095" h="10287000">
                <a:moveTo>
                  <a:pt x="0" y="0"/>
                </a:moveTo>
                <a:lnTo>
                  <a:pt x="13300095" y="0"/>
                </a:lnTo>
                <a:lnTo>
                  <a:pt x="133000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9404" y="338706"/>
            <a:ext cx="238683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F4F6FC"/>
                </a:solidFill>
                <a:latin typeface="Alice Bold"/>
              </a:rPr>
              <a:t>Code: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89227" y="0"/>
            <a:ext cx="12426004" cy="10287000"/>
          </a:xfrm>
          <a:custGeom>
            <a:avLst/>
            <a:gdLst/>
            <a:ahLst/>
            <a:cxnLst/>
            <a:rect l="l" t="t" r="r" b="b"/>
            <a:pathLst>
              <a:path w="12426004" h="10287000">
                <a:moveTo>
                  <a:pt x="0" y="0"/>
                </a:moveTo>
                <a:lnTo>
                  <a:pt x="12426004" y="0"/>
                </a:lnTo>
                <a:lnTo>
                  <a:pt x="124260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58649" y="0"/>
            <a:ext cx="11898250" cy="10398471"/>
          </a:xfrm>
          <a:custGeom>
            <a:avLst/>
            <a:gdLst/>
            <a:ahLst/>
            <a:cxnLst/>
            <a:rect l="l" t="t" r="r" b="b"/>
            <a:pathLst>
              <a:path w="11898250" h="10398471">
                <a:moveTo>
                  <a:pt x="0" y="0"/>
                </a:moveTo>
                <a:lnTo>
                  <a:pt x="11898250" y="0"/>
                </a:lnTo>
                <a:lnTo>
                  <a:pt x="11898250" y="10398471"/>
                </a:lnTo>
                <a:lnTo>
                  <a:pt x="0" y="10398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836" y="1432769"/>
            <a:ext cx="15092328" cy="7428663"/>
          </a:xfrm>
          <a:custGeom>
            <a:avLst/>
            <a:gdLst/>
            <a:ahLst/>
            <a:cxnLst/>
            <a:rect l="l" t="t" r="r" b="b"/>
            <a:pathLst>
              <a:path w="15092328" h="7428663">
                <a:moveTo>
                  <a:pt x="0" y="0"/>
                </a:moveTo>
                <a:lnTo>
                  <a:pt x="15092328" y="0"/>
                </a:lnTo>
                <a:lnTo>
                  <a:pt x="15092328" y="7428663"/>
                </a:lnTo>
                <a:lnTo>
                  <a:pt x="0" y="7428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06686" y="-123825"/>
            <a:ext cx="323552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lice Bold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94235" y="9322651"/>
            <a:ext cx="1269953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 Bold"/>
              </a:rPr>
              <a:t>TRAINING ACCURACY = 96%      VALIDATION ACCURACY = 92%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3217" y="1412915"/>
            <a:ext cx="14262515" cy="7468372"/>
          </a:xfrm>
          <a:custGeom>
            <a:avLst/>
            <a:gdLst/>
            <a:ahLst/>
            <a:cxnLst/>
            <a:rect l="l" t="t" r="r" b="b"/>
            <a:pathLst>
              <a:path w="14262515" h="7468372">
                <a:moveTo>
                  <a:pt x="0" y="0"/>
                </a:moveTo>
                <a:lnTo>
                  <a:pt x="14262516" y="0"/>
                </a:lnTo>
                <a:lnTo>
                  <a:pt x="14262516" y="7468372"/>
                </a:lnTo>
                <a:lnTo>
                  <a:pt x="0" y="7468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6713" y="-123825"/>
            <a:ext cx="323552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lice Bold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94235" y="9322651"/>
            <a:ext cx="1269953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 Bold"/>
              </a:rPr>
              <a:t>TRAINING LOSS = 8%      VALIDATION LOSS = 22%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6428" y="1563706"/>
            <a:ext cx="10520138" cy="8034798"/>
          </a:xfrm>
          <a:custGeom>
            <a:avLst/>
            <a:gdLst/>
            <a:ahLst/>
            <a:cxnLst/>
            <a:rect l="l" t="t" r="r" b="b"/>
            <a:pathLst>
              <a:path w="10520138" h="8034798">
                <a:moveTo>
                  <a:pt x="0" y="0"/>
                </a:moveTo>
                <a:lnTo>
                  <a:pt x="10520138" y="0"/>
                </a:lnTo>
                <a:lnTo>
                  <a:pt x="10520138" y="8034798"/>
                </a:lnTo>
                <a:lnTo>
                  <a:pt x="0" y="8034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26238" y="-9525"/>
            <a:ext cx="323552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lice Bold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719341" y="2520405"/>
            <a:ext cx="5539959" cy="605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599">
                <a:solidFill>
                  <a:srgbClr val="508AC3"/>
                </a:solidFill>
                <a:latin typeface="Canva Sans Bold"/>
              </a:rPr>
              <a:t>TEST DATASET-1: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Canva Sans Bold"/>
              </a:rPr>
              <a:t>ACCURACY = 81%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Canva Sans Bold"/>
              </a:rPr>
              <a:t>LOSS = 55%</a:t>
            </a:r>
          </a:p>
          <a:p>
            <a:pPr>
              <a:lnSpc>
                <a:spcPts val="4759"/>
              </a:lnSpc>
            </a:pPr>
            <a:endParaRPr lang="en-US" sz="3399">
              <a:solidFill>
                <a:srgbClr val="F4F6FC"/>
              </a:solidFill>
              <a:latin typeface="Canva Sans Bold"/>
            </a:endParaRPr>
          </a:p>
          <a:p>
            <a:pPr>
              <a:lnSpc>
                <a:spcPts val="4759"/>
              </a:lnSpc>
            </a:pPr>
            <a:endParaRPr lang="en-US" sz="3399">
              <a:solidFill>
                <a:srgbClr val="F4F6FC"/>
              </a:solidFill>
              <a:latin typeface="Canva Sans Bold"/>
            </a:endParaRPr>
          </a:p>
          <a:p>
            <a:pPr>
              <a:lnSpc>
                <a:spcPts val="5039"/>
              </a:lnSpc>
            </a:pPr>
            <a:r>
              <a:rPr lang="en-US" sz="3599">
                <a:solidFill>
                  <a:srgbClr val="508AC3"/>
                </a:solidFill>
                <a:latin typeface="Canva Sans Bold"/>
              </a:rPr>
              <a:t>TEST DATASET-2: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Canva Sans Bold"/>
              </a:rPr>
              <a:t>ACCURACY = 99%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Canva Sans Bold"/>
              </a:rPr>
              <a:t>LOSS = 1%</a:t>
            </a:r>
          </a:p>
          <a:p>
            <a:pPr>
              <a:lnSpc>
                <a:spcPts val="4759"/>
              </a:lnSpc>
            </a:pPr>
            <a:endParaRPr lang="en-US" sz="3399">
              <a:solidFill>
                <a:srgbClr val="F4F6FC"/>
              </a:solidFill>
              <a:latin typeface="Canva Sans Bold"/>
            </a:endParaRPr>
          </a:p>
          <a:p>
            <a:pPr>
              <a:lnSpc>
                <a:spcPts val="4759"/>
              </a:lnSpc>
            </a:pPr>
            <a:endParaRPr lang="en-US" sz="3399">
              <a:solidFill>
                <a:srgbClr val="F4F6FC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5512153" y="-441926"/>
            <a:ext cx="10686704" cy="10918398"/>
            <a:chOff x="0" y="0"/>
            <a:chExt cx="878585" cy="8976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8585" cy="897633"/>
            </a:xfrm>
            <a:custGeom>
              <a:avLst/>
              <a:gdLst/>
              <a:ahLst/>
              <a:cxnLst/>
              <a:rect l="l" t="t" r="r" b="b"/>
              <a:pathLst>
                <a:path w="878585" h="897633">
                  <a:moveTo>
                    <a:pt x="878585" y="448817"/>
                  </a:moveTo>
                  <a:lnTo>
                    <a:pt x="675385" y="897633"/>
                  </a:lnTo>
                  <a:lnTo>
                    <a:pt x="203200" y="897633"/>
                  </a:lnTo>
                  <a:lnTo>
                    <a:pt x="0" y="448817"/>
                  </a:lnTo>
                  <a:lnTo>
                    <a:pt x="203200" y="0"/>
                  </a:lnTo>
                  <a:lnTo>
                    <a:pt x="675385" y="0"/>
                  </a:lnTo>
                  <a:lnTo>
                    <a:pt x="878585" y="44881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649985" cy="935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7902" y="4457855"/>
            <a:ext cx="5434731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US" sz="6999">
                <a:solidFill>
                  <a:srgbClr val="050A30"/>
                </a:solidFill>
                <a:latin typeface="Alice Bold"/>
              </a:rPr>
              <a:t>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718414" y="0"/>
            <a:ext cx="4393457" cy="839228"/>
            <a:chOff x="0" y="0"/>
            <a:chExt cx="1157124" cy="2210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18414" y="9447772"/>
            <a:ext cx="4393457" cy="839228"/>
            <a:chOff x="0" y="0"/>
            <a:chExt cx="1157124" cy="2210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35591" y="-189472"/>
            <a:ext cx="2664422" cy="1218172"/>
            <a:chOff x="0" y="0"/>
            <a:chExt cx="483446" cy="2210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35591" y="9258300"/>
            <a:ext cx="2664422" cy="1218172"/>
            <a:chOff x="0" y="0"/>
            <a:chExt cx="483446" cy="2210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846001" y="-189472"/>
            <a:ext cx="2664422" cy="1218172"/>
            <a:chOff x="0" y="0"/>
            <a:chExt cx="483446" cy="2210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846001" y="9258300"/>
            <a:ext cx="2664422" cy="1218172"/>
            <a:chOff x="0" y="0"/>
            <a:chExt cx="483446" cy="2210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174551" y="1579120"/>
            <a:ext cx="12753865" cy="769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[1]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2" tooltip="https://pubmed.ncbi.nlm.nih.gov/?term=Afshari%20Safavi%20E%5BAuthor%5D"/>
              </a:rPr>
              <a:t>EHSANALLAH AFSHARI SAFAVI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“ASSESSING MACHINE LEARNING TECHNIQUES IN FORECASTING LUMPY SKIN DISEASE OCCURRENCE BASED ON METEOROLOGICAL AND GEOSPATIAL FEATURES,” IN TROPICAL ANIMAL HEALTH AND PRODUCTION, JANUARY 2022.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[2] GAURAV RAI, NAVEEN, AQUIB HUSSAIN, AMIT KUMAR AND RAHUL NIJHAWAN,</a:t>
            </a: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“A DEEP LEARNING APPROACH TO DETECT LUMPY SKIN DISEASE IN COWS,” LNDECT,VOLUME 66, FEBRUARY 2020.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[3] MUSA GENEMO, “DETECTING HIGH-RISK AREA FOR LUMPY SKIN DISEASE IN CATTLE USING DEEP LEARNING FEATURE,” VOLUME: 3 ISSUE: 1, FEBRUARY 2023.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[4]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3" tooltip="https://www.researchgate.net/scientific-contributions/Olatayo-Moses-Olaniyan-2263926718?_tp=eyJjb250ZXh0Ijp7ImZpcnN0UGFnZSI6InB1YmxpY2F0aW9uIiwicGFnZSI6InB1YmxpY2F0aW9uIn19"/>
              </a:rPr>
              <a:t>OLATAYO MOSES OLANIYAN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4" tooltip="https://www.researchgate.net/profile/Olusogo-Julius-Adetunji-2?_tp=eyJjb250ZXh0Ijp7ImZpcnN0UGFnZSI6InB1YmxpY2F0aW9uIiwicGFnZSI6InB1YmxpY2F0aW9uIn19"/>
              </a:rPr>
              <a:t>OLUSOGO JULIUS ADETUNJI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5" tooltip="https://www.researchgate.net/scientific-contributions/Adedire-Marquis-Fasanya-2263916191"/>
              </a:rPr>
              <a:t>ADEDIRE MARQUIS FASANYA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“DEVELOPMENT OF A MODEL FOR THE PREDICTION OF LUMPY SKIN DISEASES USING MACHINE LEARNING TECHNIQUES,” OCTOBER 2023.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[5] 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6" tooltip="https://www.researchgate.net/scientific-contributions/Toyal-Mazi-2241246265?_tp=eyJjb250ZXh0Ijp7ImZpcnN0UGFnZSI6InNpZ251cCIsInBhZ2UiOiJwdWJsaWNhdGlvbiJ9fQ"/>
              </a:rPr>
              <a:t>TOYAL MAZI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7" tooltip="https://www.researchgate.net/scientific-contributions/S-Tharun-Kumar-Reddy-2241236349?_tp=eyJjb250ZXh0Ijp7ImZpcnN0UGFnZSI6InNpZ251cCIsInBhZ2UiOiJwdWJsaWNhdGlvbiJ9fQ"/>
              </a:rPr>
              <a:t>S. THARUN KUMAR REDDY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8" tooltip="https://www.researchgate.net/scientific-contributions/B-Rakesh-2241256138?_tp=eyJjb250ZXh0Ijp7ImZpcnN0UGFnZSI6InNpZ251cCIsInBhZ2UiOiJwdWJsaWNhdGlvbiJ9fQ"/>
              </a:rPr>
              <a:t>B. RAKESH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 </a:t>
            </a:r>
            <a:r>
              <a:rPr lang="en-US" sz="2278" spc="182">
                <a:solidFill>
                  <a:srgbClr val="F4F6FC"/>
                </a:solidFill>
                <a:latin typeface="HK Grotesk"/>
                <a:hlinkClick r:id="rId9" tooltip="https://www.researchgate.net/scientific-contributions/N-Chandu-2241236481"/>
              </a:rPr>
              <a:t>N. CHANDU</a:t>
            </a:r>
            <a:r>
              <a:rPr lang="en-US" sz="2278" spc="182">
                <a:solidFill>
                  <a:srgbClr val="F4F6FC"/>
                </a:solidFill>
                <a:latin typeface="HK Grotesk"/>
              </a:rPr>
              <a:t>,</a:t>
            </a: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“A SURVEY ON DEEP LEARNING METHOD TO IDENTIFY LUMPY SKIN DISEASE IN COWS,” JANUARY2023.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[6] V.SIVAMURUGAN, K.R. UTHAYAN, AND V. THANIKACHALAM, “COW DISEASE (LSD) CLASSIFICATION SYSTEM FOR PREDICTING DIFFERENT SEVERITY LEVELS,”</a:t>
            </a:r>
          </a:p>
          <a:p>
            <a:pPr>
              <a:lnSpc>
                <a:spcPts val="2391"/>
              </a:lnSpc>
            </a:pPr>
            <a:r>
              <a:rPr lang="en-US" sz="2278" spc="182">
                <a:solidFill>
                  <a:srgbClr val="F4F6FC"/>
                </a:solidFill>
                <a:latin typeface="HK Grotesk"/>
              </a:rPr>
              <a:t>2022.</a:t>
            </a: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  <a:p>
            <a:pPr>
              <a:lnSpc>
                <a:spcPts val="2391"/>
              </a:lnSpc>
            </a:pPr>
            <a:endParaRPr lang="en-US" sz="2278" spc="182">
              <a:solidFill>
                <a:srgbClr val="F4F6FC"/>
              </a:solidFill>
              <a:latin typeface="HK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335103" y="1010854"/>
            <a:ext cx="9617795" cy="8265292"/>
            <a:chOff x="0" y="0"/>
            <a:chExt cx="812800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7422548" y="6168229"/>
            <a:ext cx="3442903" cy="5511342"/>
            <a:chOff x="0" y="0"/>
            <a:chExt cx="906773" cy="14515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6773" cy="1451547"/>
            </a:xfrm>
            <a:custGeom>
              <a:avLst/>
              <a:gdLst/>
              <a:ahLst/>
              <a:cxnLst/>
              <a:rect l="l" t="t" r="r" b="b"/>
              <a:pathLst>
                <a:path w="906773" h="1451547">
                  <a:moveTo>
                    <a:pt x="0" y="0"/>
                  </a:moveTo>
                  <a:lnTo>
                    <a:pt x="906773" y="0"/>
                  </a:lnTo>
                  <a:lnTo>
                    <a:pt x="906773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06773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7434859" y="-1392571"/>
            <a:ext cx="3442903" cy="5511342"/>
            <a:chOff x="0" y="0"/>
            <a:chExt cx="906773" cy="14515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6773" cy="1451547"/>
            </a:xfrm>
            <a:custGeom>
              <a:avLst/>
              <a:gdLst/>
              <a:ahLst/>
              <a:cxnLst/>
              <a:rect l="l" t="t" r="r" b="b"/>
              <a:pathLst>
                <a:path w="906773" h="1451547">
                  <a:moveTo>
                    <a:pt x="0" y="0"/>
                  </a:moveTo>
                  <a:lnTo>
                    <a:pt x="906773" y="0"/>
                  </a:lnTo>
                  <a:lnTo>
                    <a:pt x="906773" y="1451547"/>
                  </a:lnTo>
                  <a:lnTo>
                    <a:pt x="0" y="1451547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6773" cy="148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4957496" y="1496218"/>
            <a:ext cx="8373008" cy="7294564"/>
            <a:chOff x="0" y="0"/>
            <a:chExt cx="6350000" cy="5532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5532120"/>
            </a:xfrm>
            <a:custGeom>
              <a:avLst/>
              <a:gdLst/>
              <a:ahLst/>
              <a:cxnLst/>
              <a:rect l="l" t="t" r="r" b="b"/>
              <a:pathLst>
                <a:path w="6350000" h="5532120">
                  <a:moveTo>
                    <a:pt x="4762500" y="0"/>
                  </a:moveTo>
                  <a:lnTo>
                    <a:pt x="1587500" y="0"/>
                  </a:lnTo>
                  <a:lnTo>
                    <a:pt x="0" y="2766060"/>
                  </a:lnTo>
                  <a:lnTo>
                    <a:pt x="1587500" y="5532120"/>
                  </a:lnTo>
                  <a:lnTo>
                    <a:pt x="4762500" y="5532120"/>
                  </a:lnTo>
                  <a:lnTo>
                    <a:pt x="6350000" y="2766060"/>
                  </a:lnTo>
                  <a:lnTo>
                    <a:pt x="4762500" y="0"/>
                  </a:lnTo>
                  <a:close/>
                  <a:moveTo>
                    <a:pt x="4676140" y="5382260"/>
                  </a:moveTo>
                  <a:lnTo>
                    <a:pt x="1673860" y="5382260"/>
                  </a:lnTo>
                  <a:lnTo>
                    <a:pt x="172720" y="2766060"/>
                  </a:lnTo>
                  <a:lnTo>
                    <a:pt x="1673860" y="149860"/>
                  </a:lnTo>
                  <a:lnTo>
                    <a:pt x="4676140" y="149860"/>
                  </a:lnTo>
                  <a:lnTo>
                    <a:pt x="6177280" y="2766060"/>
                  </a:lnTo>
                  <a:lnTo>
                    <a:pt x="4676140" y="5382260"/>
                  </a:lnTo>
                  <a:close/>
                </a:path>
              </a:pathLst>
            </a:custGeom>
            <a:solidFill>
              <a:srgbClr val="050A30"/>
            </a:solidFill>
          </p:spPr>
        </p:sp>
      </p:grpSp>
      <p:sp>
        <p:nvSpPr>
          <p:cNvPr id="13" name="AutoShape 13"/>
          <p:cNvSpPr/>
          <p:nvPr/>
        </p:nvSpPr>
        <p:spPr>
          <a:xfrm rot="-1715946">
            <a:off x="8894443" y="9327390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9084053">
            <a:off x="6088205" y="873885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-8950593">
            <a:off x="6057734" y="9272285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1849406">
            <a:off x="8924914" y="928990"/>
            <a:ext cx="3317663" cy="0"/>
          </a:xfrm>
          <a:prstGeom prst="line">
            <a:avLst/>
          </a:prstGeom>
          <a:ln w="85725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5725969" y="4456533"/>
            <a:ext cx="6836061" cy="147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11000">
                <a:solidFill>
                  <a:srgbClr val="233DFF"/>
                </a:solidFill>
                <a:latin typeface="HK Grotesk Bold"/>
              </a:rPr>
              <a:t>Thank You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1805930" y="9447772"/>
            <a:ext cx="4393457" cy="839228"/>
            <a:chOff x="0" y="0"/>
            <a:chExt cx="1157124" cy="2210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11247" y="9258300"/>
            <a:ext cx="2664422" cy="1218172"/>
            <a:chOff x="0" y="0"/>
            <a:chExt cx="483446" cy="2210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21657" y="9258300"/>
            <a:ext cx="2664422" cy="1218172"/>
            <a:chOff x="0" y="0"/>
            <a:chExt cx="483446" cy="2210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11849" y="0"/>
            <a:ext cx="4393457" cy="839228"/>
            <a:chOff x="0" y="0"/>
            <a:chExt cx="1157124" cy="2210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7125" cy="221031"/>
            </a:xfrm>
            <a:custGeom>
              <a:avLst/>
              <a:gdLst/>
              <a:ahLst/>
              <a:cxnLst/>
              <a:rect l="l" t="t" r="r" b="b"/>
              <a:pathLst>
                <a:path w="1157125" h="221031">
                  <a:moveTo>
                    <a:pt x="203200" y="0"/>
                  </a:moveTo>
                  <a:lnTo>
                    <a:pt x="1157125" y="0"/>
                  </a:lnTo>
                  <a:lnTo>
                    <a:pt x="953925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1600" y="-38100"/>
              <a:ext cx="953924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829027" y="-189472"/>
            <a:ext cx="2664422" cy="1218172"/>
            <a:chOff x="0" y="0"/>
            <a:chExt cx="483446" cy="22103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7439436" y="-189472"/>
            <a:ext cx="2664422" cy="1218172"/>
            <a:chOff x="0" y="0"/>
            <a:chExt cx="483446" cy="2210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3446" cy="221031"/>
            </a:xfrm>
            <a:custGeom>
              <a:avLst/>
              <a:gdLst/>
              <a:ahLst/>
              <a:cxnLst/>
              <a:rect l="l" t="t" r="r" b="b"/>
              <a:pathLst>
                <a:path w="483446" h="221031">
                  <a:moveTo>
                    <a:pt x="203200" y="0"/>
                  </a:moveTo>
                  <a:lnTo>
                    <a:pt x="483446" y="0"/>
                  </a:lnTo>
                  <a:lnTo>
                    <a:pt x="280246" y="221031"/>
                  </a:lnTo>
                  <a:lnTo>
                    <a:pt x="0" y="22103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01600" y="-38100"/>
              <a:ext cx="280246" cy="259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1160</Words>
  <Application>Microsoft Office PowerPoint</Application>
  <PresentationFormat>Custom</PresentationFormat>
  <Paragraphs>238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Alice</vt:lpstr>
      <vt:lpstr>Georgia Pro Bold</vt:lpstr>
      <vt:lpstr>Georgia Pro</vt:lpstr>
      <vt:lpstr>Arial</vt:lpstr>
      <vt:lpstr>HK Grotesk</vt:lpstr>
      <vt:lpstr>Alice Bold</vt:lpstr>
      <vt:lpstr>Open Sans</vt:lpstr>
      <vt:lpstr>Calibri</vt:lpstr>
      <vt:lpstr>Open Sans Bold</vt:lpstr>
      <vt:lpstr>HK Grotesk Medium</vt:lpstr>
      <vt:lpstr>HK Grotesk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White Minimalist Modern Real Estate Presentation</dc:title>
  <cp:lastModifiedBy>M V Diliban</cp:lastModifiedBy>
  <cp:revision>2</cp:revision>
  <dcterms:created xsi:type="dcterms:W3CDTF">2006-08-16T00:00:00Z</dcterms:created>
  <dcterms:modified xsi:type="dcterms:W3CDTF">2025-12-13T04:33:48Z</dcterms:modified>
  <dc:identifier>DAF6N4p6ncc</dc:identifier>
</cp:coreProperties>
</file>